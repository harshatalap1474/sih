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IH" id="{6D4540DE-51DF-4F22-81A1-D496B388A0CE}">
          <p14:sldIdLst>
            <p14:sldId id="291"/>
            <p14:sldId id="281"/>
            <p14:sldId id="290"/>
            <p14:sldId id="293"/>
            <p14:sldId id="294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744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0EA8E2-11CC-4193-B1AC-C59B457A4ED7}" type="doc">
      <dgm:prSet loTypeId="urn:microsoft.com/office/officeart/2005/8/layout/default" loCatId="list" qsTypeId="urn:microsoft.com/office/officeart/2005/8/quickstyle/simple1#9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CBCB01E2-2BA8-42C1-ABCA-DC42C290E49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Modular hardware</a:t>
          </a:r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– Thermal, LiDAR, Radar, Stereo and GPS can be integrated as independent sensor modules. 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041DA09-ED54-4D7F-AB13-214C5FE24ED8}" type="parTrans" cxnId="{4A0B635E-C77C-446F-8D6A-9FD94D7A85BD}">
      <dgm:prSet/>
      <dgm:spPr/>
      <dgm:t>
        <a:bodyPr/>
        <a:lstStyle/>
        <a:p>
          <a:endParaRPr lang="en-US" sz="1600"/>
        </a:p>
      </dgm:t>
    </dgm:pt>
    <dgm:pt modelId="{45A87A72-1F32-42D2-8644-BF0779C4C3C6}" type="sibTrans" cxnId="{4A0B635E-C77C-446F-8D6A-9FD94D7A85BD}">
      <dgm:prSet/>
      <dgm:spPr/>
      <dgm:t>
        <a:bodyPr/>
        <a:lstStyle/>
        <a:p>
          <a:endParaRPr lang="en-US" sz="1600"/>
        </a:p>
      </dgm:t>
    </dgm:pt>
    <dgm:pt modelId="{CA6EEE32-A652-4F72-9531-9C802636383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Edge processing</a:t>
          </a:r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IN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Raspberry Pi 5 + Coral</a:t>
          </a:r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handles AI, sensor fusion and safety decisions. 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D2AAE8E-35B6-4575-9536-CDE7C1D53178}" type="parTrans" cxnId="{1DB49C09-81FC-43D6-9791-795D67ABE735}">
      <dgm:prSet/>
      <dgm:spPr/>
      <dgm:t>
        <a:bodyPr/>
        <a:lstStyle/>
        <a:p>
          <a:endParaRPr lang="en-US" sz="1600"/>
        </a:p>
      </dgm:t>
    </dgm:pt>
    <dgm:pt modelId="{96B6AE58-741D-405D-B99C-A8B519F640FE}" type="sibTrans" cxnId="{1DB49C09-81FC-43D6-9791-795D67ABE735}">
      <dgm:prSet/>
      <dgm:spPr/>
      <dgm:t>
        <a:bodyPr/>
        <a:lstStyle/>
        <a:p>
          <a:endParaRPr lang="en-US" sz="1600"/>
        </a:p>
      </dgm:t>
    </dgm:pt>
    <dgm:pt modelId="{DA523173-931F-49F6-A6AE-DC19A4823B0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Dedicated safety controller</a:t>
          </a:r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IN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ESP32-S3</a:t>
          </a:r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manages sensor interfaces, alerts, V2V communication and watchdog functions. 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1EF136E-A7E7-4B53-80DE-D02AE13E93B1}" type="parTrans" cxnId="{735E4339-2161-4E3D-A02D-AA0B9E2F8E62}">
      <dgm:prSet/>
      <dgm:spPr/>
      <dgm:t>
        <a:bodyPr/>
        <a:lstStyle/>
        <a:p>
          <a:endParaRPr lang="en-US" sz="1600"/>
        </a:p>
      </dgm:t>
    </dgm:pt>
    <dgm:pt modelId="{840D0415-6A11-4933-84DD-A8E931A62D04}" type="sibTrans" cxnId="{735E4339-2161-4E3D-A02D-AA0B9E2F8E62}">
      <dgm:prSet/>
      <dgm:spPr/>
      <dgm:t>
        <a:bodyPr/>
        <a:lstStyle/>
        <a:p>
          <a:endParaRPr lang="en-US" sz="1600"/>
        </a:p>
      </dgm:t>
    </dgm:pt>
    <dgm:pt modelId="{3D86707D-8025-4D9E-A5F2-9D2CCDDB104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Open-source software</a:t>
          </a:r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IN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YOLO, OpenCV, Kalman Filter, MQTT and Web technologies</a:t>
          </a:r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reduce development dependency. 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97A2BDA-5A0B-4457-A17E-ED1DAC006F19}" type="parTrans" cxnId="{08B564C2-5BE7-4139-BBDE-D8187123C4EB}">
      <dgm:prSet/>
      <dgm:spPr/>
      <dgm:t>
        <a:bodyPr/>
        <a:lstStyle/>
        <a:p>
          <a:endParaRPr lang="en-US" sz="1600"/>
        </a:p>
      </dgm:t>
    </dgm:pt>
    <dgm:pt modelId="{931D2FAA-B28D-497A-835D-2E59EFBF4D94}" type="sibTrans" cxnId="{08B564C2-5BE7-4139-BBDE-D8187123C4EB}">
      <dgm:prSet/>
      <dgm:spPr/>
      <dgm:t>
        <a:bodyPr/>
        <a:lstStyle/>
        <a:p>
          <a:endParaRPr lang="en-US" sz="1600"/>
        </a:p>
      </dgm:t>
    </dgm:pt>
    <dgm:pt modelId="{8F2CA605-D3C5-4F88-879A-39B8A680100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Fallback architecture</a:t>
          </a:r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– Basic safety can continue through </a:t>
          </a:r>
          <a:r>
            <a:rPr lang="en-IN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ESP32 + LiDAR/Radar</a:t>
          </a:r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if the main compute unit fails.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1B9E1D5-2154-442E-8E32-2F2E7A7E33C9}" type="parTrans" cxnId="{A5EBF1C4-2072-48EA-AFCF-D095A079F95C}">
      <dgm:prSet/>
      <dgm:spPr/>
      <dgm:t>
        <a:bodyPr/>
        <a:lstStyle/>
        <a:p>
          <a:endParaRPr lang="en-US" sz="1600"/>
        </a:p>
      </dgm:t>
    </dgm:pt>
    <dgm:pt modelId="{BCFA6A80-772B-4FD9-9477-E9C3AB45C29C}" type="sibTrans" cxnId="{A5EBF1C4-2072-48EA-AFCF-D095A079F95C}">
      <dgm:prSet/>
      <dgm:spPr/>
      <dgm:t>
        <a:bodyPr/>
        <a:lstStyle/>
        <a:p>
          <a:endParaRPr lang="en-US" sz="1600"/>
        </a:p>
      </dgm:t>
    </dgm:pt>
    <dgm:pt modelId="{F3B5B3A4-B94F-4F97-AD2E-7F1365ACF44B}" type="pres">
      <dgm:prSet presAssocID="{EE0EA8E2-11CC-4193-B1AC-C59B457A4ED7}" presName="diagram" presStyleCnt="0">
        <dgm:presLayoutVars>
          <dgm:dir/>
          <dgm:resizeHandles val="exact"/>
        </dgm:presLayoutVars>
      </dgm:prSet>
      <dgm:spPr/>
    </dgm:pt>
    <dgm:pt modelId="{D22B4EEF-B5AB-41A6-A620-F31329F22786}" type="pres">
      <dgm:prSet presAssocID="{CBCB01E2-2BA8-42C1-ABCA-DC42C290E495}" presName="node" presStyleLbl="node1" presStyleIdx="0" presStyleCnt="5" custScaleX="130517">
        <dgm:presLayoutVars>
          <dgm:bulletEnabled val="1"/>
        </dgm:presLayoutVars>
      </dgm:prSet>
      <dgm:spPr/>
    </dgm:pt>
    <dgm:pt modelId="{1E320E5F-193F-44B6-B3CF-CACB30BC2EFD}" type="pres">
      <dgm:prSet presAssocID="{45A87A72-1F32-42D2-8644-BF0779C4C3C6}" presName="sibTrans" presStyleCnt="0"/>
      <dgm:spPr/>
    </dgm:pt>
    <dgm:pt modelId="{1EF67852-F9B4-4316-AA0C-A6E713F7F59D}" type="pres">
      <dgm:prSet presAssocID="{CA6EEE32-A652-4F72-9531-9C8026363831}" presName="node" presStyleLbl="node1" presStyleIdx="1" presStyleCnt="5" custScaleX="130493">
        <dgm:presLayoutVars>
          <dgm:bulletEnabled val="1"/>
        </dgm:presLayoutVars>
      </dgm:prSet>
      <dgm:spPr/>
    </dgm:pt>
    <dgm:pt modelId="{7A908414-5975-4FFB-843A-6AFE2BD9F9DA}" type="pres">
      <dgm:prSet presAssocID="{96B6AE58-741D-405D-B99C-A8B519F640FE}" presName="sibTrans" presStyleCnt="0"/>
      <dgm:spPr/>
    </dgm:pt>
    <dgm:pt modelId="{89095608-F72B-4840-951F-E07C6F5432B2}" type="pres">
      <dgm:prSet presAssocID="{DA523173-931F-49F6-A6AE-DC19A4823B0B}" presName="node" presStyleLbl="node1" presStyleIdx="2" presStyleCnt="5" custScaleX="130493">
        <dgm:presLayoutVars>
          <dgm:bulletEnabled val="1"/>
        </dgm:presLayoutVars>
      </dgm:prSet>
      <dgm:spPr/>
    </dgm:pt>
    <dgm:pt modelId="{B61673D1-0FA8-4B71-9D68-EB69BC448C8B}" type="pres">
      <dgm:prSet presAssocID="{840D0415-6A11-4933-84DD-A8E931A62D04}" presName="sibTrans" presStyleCnt="0"/>
      <dgm:spPr/>
    </dgm:pt>
    <dgm:pt modelId="{A17FC420-EF9B-46C5-AADD-86CC582A9E64}" type="pres">
      <dgm:prSet presAssocID="{3D86707D-8025-4D9E-A5F2-9D2CCDDB104E}" presName="node" presStyleLbl="node1" presStyleIdx="3" presStyleCnt="5" custScaleX="130493">
        <dgm:presLayoutVars>
          <dgm:bulletEnabled val="1"/>
        </dgm:presLayoutVars>
      </dgm:prSet>
      <dgm:spPr/>
    </dgm:pt>
    <dgm:pt modelId="{318C9ED4-8679-45CD-A44A-F7970BD68570}" type="pres">
      <dgm:prSet presAssocID="{931D2FAA-B28D-497A-835D-2E59EFBF4D94}" presName="sibTrans" presStyleCnt="0"/>
      <dgm:spPr/>
    </dgm:pt>
    <dgm:pt modelId="{E3BDB285-F29B-4B60-AD07-8A9BB5E46CEF}" type="pres">
      <dgm:prSet presAssocID="{8F2CA605-D3C5-4F88-879A-39B8A6801009}" presName="node" presStyleLbl="node1" presStyleIdx="4" presStyleCnt="5" custScaleX="130493">
        <dgm:presLayoutVars>
          <dgm:bulletEnabled val="1"/>
        </dgm:presLayoutVars>
      </dgm:prSet>
      <dgm:spPr/>
    </dgm:pt>
  </dgm:ptLst>
  <dgm:cxnLst>
    <dgm:cxn modelId="{503D9208-D081-4605-B831-4A6D7222B760}" type="presOf" srcId="{CA6EEE32-A652-4F72-9531-9C8026363831}" destId="{1EF67852-F9B4-4316-AA0C-A6E713F7F59D}" srcOrd="0" destOrd="0" presId="urn:microsoft.com/office/officeart/2005/8/layout/default"/>
    <dgm:cxn modelId="{1DB49C09-81FC-43D6-9791-795D67ABE735}" srcId="{EE0EA8E2-11CC-4193-B1AC-C59B457A4ED7}" destId="{CA6EEE32-A652-4F72-9531-9C8026363831}" srcOrd="1" destOrd="0" parTransId="{BD2AAE8E-35B6-4575-9536-CDE7C1D53178}" sibTransId="{96B6AE58-741D-405D-B99C-A8B519F640FE}"/>
    <dgm:cxn modelId="{B1FC0B25-576F-42F7-A2C1-7907724E9E56}" type="presOf" srcId="{DA523173-931F-49F6-A6AE-DC19A4823B0B}" destId="{89095608-F72B-4840-951F-E07C6F5432B2}" srcOrd="0" destOrd="0" presId="urn:microsoft.com/office/officeart/2005/8/layout/default"/>
    <dgm:cxn modelId="{735E4339-2161-4E3D-A02D-AA0B9E2F8E62}" srcId="{EE0EA8E2-11CC-4193-B1AC-C59B457A4ED7}" destId="{DA523173-931F-49F6-A6AE-DC19A4823B0B}" srcOrd="2" destOrd="0" parTransId="{31EF136E-A7E7-4B53-80DE-D02AE13E93B1}" sibTransId="{840D0415-6A11-4933-84DD-A8E931A62D04}"/>
    <dgm:cxn modelId="{4A0B635E-C77C-446F-8D6A-9FD94D7A85BD}" srcId="{EE0EA8E2-11CC-4193-B1AC-C59B457A4ED7}" destId="{CBCB01E2-2BA8-42C1-ABCA-DC42C290E495}" srcOrd="0" destOrd="0" parTransId="{1041DA09-ED54-4D7F-AB13-214C5FE24ED8}" sibTransId="{45A87A72-1F32-42D2-8644-BF0779C4C3C6}"/>
    <dgm:cxn modelId="{7F2FBB63-E682-4594-A59F-9CCB759F5D43}" type="presOf" srcId="{8F2CA605-D3C5-4F88-879A-39B8A6801009}" destId="{E3BDB285-F29B-4B60-AD07-8A9BB5E46CEF}" srcOrd="0" destOrd="0" presId="urn:microsoft.com/office/officeart/2005/8/layout/default"/>
    <dgm:cxn modelId="{ADF28F48-605F-4CDB-8571-5CEB65EA636C}" type="presOf" srcId="{3D86707D-8025-4D9E-A5F2-9D2CCDDB104E}" destId="{A17FC420-EF9B-46C5-AADD-86CC582A9E64}" srcOrd="0" destOrd="0" presId="urn:microsoft.com/office/officeart/2005/8/layout/default"/>
    <dgm:cxn modelId="{F52E0D98-9551-4B0D-A53C-7B392E621402}" type="presOf" srcId="{EE0EA8E2-11CC-4193-B1AC-C59B457A4ED7}" destId="{F3B5B3A4-B94F-4F97-AD2E-7F1365ACF44B}" srcOrd="0" destOrd="0" presId="urn:microsoft.com/office/officeart/2005/8/layout/default"/>
    <dgm:cxn modelId="{08B564C2-5BE7-4139-BBDE-D8187123C4EB}" srcId="{EE0EA8E2-11CC-4193-B1AC-C59B457A4ED7}" destId="{3D86707D-8025-4D9E-A5F2-9D2CCDDB104E}" srcOrd="3" destOrd="0" parTransId="{E97A2BDA-5A0B-4457-A17E-ED1DAC006F19}" sibTransId="{931D2FAA-B28D-497A-835D-2E59EFBF4D94}"/>
    <dgm:cxn modelId="{A5EBF1C4-2072-48EA-AFCF-D095A079F95C}" srcId="{EE0EA8E2-11CC-4193-B1AC-C59B457A4ED7}" destId="{8F2CA605-D3C5-4F88-879A-39B8A6801009}" srcOrd="4" destOrd="0" parTransId="{31B9E1D5-2154-442E-8E32-2F2E7A7E33C9}" sibTransId="{BCFA6A80-772B-4FD9-9477-E9C3AB45C29C}"/>
    <dgm:cxn modelId="{4A6B44E4-E999-418F-A97C-57A30310FCC1}" type="presOf" srcId="{CBCB01E2-2BA8-42C1-ABCA-DC42C290E495}" destId="{D22B4EEF-B5AB-41A6-A620-F31329F22786}" srcOrd="0" destOrd="0" presId="urn:microsoft.com/office/officeart/2005/8/layout/default"/>
    <dgm:cxn modelId="{8286101A-7F68-4772-A3D0-69EB74A6D0BD}" type="presParOf" srcId="{F3B5B3A4-B94F-4F97-AD2E-7F1365ACF44B}" destId="{D22B4EEF-B5AB-41A6-A620-F31329F22786}" srcOrd="0" destOrd="0" presId="urn:microsoft.com/office/officeart/2005/8/layout/default"/>
    <dgm:cxn modelId="{52E92074-E62C-4EA6-8660-CCD5C92F1143}" type="presParOf" srcId="{F3B5B3A4-B94F-4F97-AD2E-7F1365ACF44B}" destId="{1E320E5F-193F-44B6-B3CF-CACB30BC2EFD}" srcOrd="1" destOrd="0" presId="urn:microsoft.com/office/officeart/2005/8/layout/default"/>
    <dgm:cxn modelId="{D8F7CE7A-7370-46BD-945B-3276DF2F2F4B}" type="presParOf" srcId="{F3B5B3A4-B94F-4F97-AD2E-7F1365ACF44B}" destId="{1EF67852-F9B4-4316-AA0C-A6E713F7F59D}" srcOrd="2" destOrd="0" presId="urn:microsoft.com/office/officeart/2005/8/layout/default"/>
    <dgm:cxn modelId="{B7934167-7426-43FE-B960-3E6353512674}" type="presParOf" srcId="{F3B5B3A4-B94F-4F97-AD2E-7F1365ACF44B}" destId="{7A908414-5975-4FFB-843A-6AFE2BD9F9DA}" srcOrd="3" destOrd="0" presId="urn:microsoft.com/office/officeart/2005/8/layout/default"/>
    <dgm:cxn modelId="{A2DB1CA4-8573-4EB2-A129-60B3E52A11D7}" type="presParOf" srcId="{F3B5B3A4-B94F-4F97-AD2E-7F1365ACF44B}" destId="{89095608-F72B-4840-951F-E07C6F5432B2}" srcOrd="4" destOrd="0" presId="urn:microsoft.com/office/officeart/2005/8/layout/default"/>
    <dgm:cxn modelId="{3A1F6F5B-8FD1-4B39-B81E-4EF617AECE95}" type="presParOf" srcId="{F3B5B3A4-B94F-4F97-AD2E-7F1365ACF44B}" destId="{B61673D1-0FA8-4B71-9D68-EB69BC448C8B}" srcOrd="5" destOrd="0" presId="urn:microsoft.com/office/officeart/2005/8/layout/default"/>
    <dgm:cxn modelId="{49AE00A2-3BB2-4E79-A3BF-78B042B0217D}" type="presParOf" srcId="{F3B5B3A4-B94F-4F97-AD2E-7F1365ACF44B}" destId="{A17FC420-EF9B-46C5-AADD-86CC582A9E64}" srcOrd="6" destOrd="0" presId="urn:microsoft.com/office/officeart/2005/8/layout/default"/>
    <dgm:cxn modelId="{F3373209-B3AA-49C0-BC8A-4632712511E6}" type="presParOf" srcId="{F3B5B3A4-B94F-4F97-AD2E-7F1365ACF44B}" destId="{318C9ED4-8679-45CD-A44A-F7970BD68570}" srcOrd="7" destOrd="0" presId="urn:microsoft.com/office/officeart/2005/8/layout/default"/>
    <dgm:cxn modelId="{6DD6A2EA-B649-4B55-9279-35CF3FF3FC87}" type="presParOf" srcId="{F3B5B3A4-B94F-4F97-AD2E-7F1365ACF44B}" destId="{E3BDB285-F29B-4B60-AD07-8A9BB5E46CE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723929-19D5-485D-A96A-C4F91CB719DF}" type="doc">
      <dgm:prSet loTypeId="urn:microsoft.com/office/officeart/2005/8/layout/vList4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447AAC41-67F9-47D5-BCE1-F32B740EF3F7}">
      <dgm:prSet phldrT="[Text]" phldr="0"/>
      <dgm:spPr/>
      <dgm:t>
        <a:bodyPr/>
        <a:lstStyle/>
        <a:p>
          <a:pPr>
            <a:buNone/>
          </a:pPr>
          <a:r>
            <a:rPr lang="en-IN" b="1" i="0"/>
            <a:t>Economic Savings</a:t>
          </a:r>
          <a:br>
            <a:rPr lang="en-IN" b="1" i="0"/>
          </a:br>
          <a:br>
            <a:rPr lang="en-IN" b="1" i="0"/>
          </a:br>
          <a:r>
            <a:rPr lang="en-US" b="0" i="0"/>
            <a:t>Saves </a:t>
          </a:r>
          <a:r>
            <a:rPr lang="en-US" b="1" i="0"/>
            <a:t>₹8–15+ Crores annually</a:t>
          </a:r>
          <a:r>
            <a:rPr lang="en-US" b="0" i="0"/>
            <a:t> per complex by eliminating idle multimillion-dollar fleet standbys and delayed ore evacuation.</a:t>
          </a:r>
          <a:endParaRPr lang="en-IN" dirty="0"/>
        </a:p>
      </dgm:t>
    </dgm:pt>
    <dgm:pt modelId="{3BD4CA05-1B22-47BB-BD2C-A2E81B600E72}" type="parTrans" cxnId="{2E311088-C013-421D-99A5-DD8FB4FD1A59}">
      <dgm:prSet/>
      <dgm:spPr/>
      <dgm:t>
        <a:bodyPr/>
        <a:lstStyle/>
        <a:p>
          <a:endParaRPr lang="en-IN"/>
        </a:p>
      </dgm:t>
    </dgm:pt>
    <dgm:pt modelId="{27A283F1-6924-4B93-8CFF-87EB63CA2015}" type="sibTrans" cxnId="{2E311088-C013-421D-99A5-DD8FB4FD1A59}">
      <dgm:prSet/>
      <dgm:spPr/>
      <dgm:t>
        <a:bodyPr/>
        <a:lstStyle/>
        <a:p>
          <a:endParaRPr lang="en-IN"/>
        </a:p>
      </dgm:t>
    </dgm:pt>
    <dgm:pt modelId="{5A193481-D8D0-4D37-AD81-EBD16EC80386}">
      <dgm:prSet phldrT="[Text]"/>
      <dgm:spPr/>
      <dgm:t>
        <a:bodyPr/>
        <a:lstStyle/>
        <a:p>
          <a:pPr>
            <a:buNone/>
          </a:pPr>
          <a:r>
            <a:rPr lang="en-IN" b="1" i="0" dirty="0"/>
            <a:t>Capital Efficiency</a:t>
          </a:r>
          <a:br>
            <a:rPr lang="en-IN" b="1" i="0" dirty="0"/>
          </a:br>
          <a:br>
            <a:rPr lang="en-IN" b="1" i="0" dirty="0"/>
          </a:br>
          <a:r>
            <a:rPr lang="en-IN" b="0" i="0" dirty="0"/>
            <a:t>Retrofit BOM costs </a:t>
          </a:r>
          <a:r>
            <a:rPr lang="en-IN" b="1" i="0" dirty="0"/>
            <a:t>&lt; ₹35,000 per truck</a:t>
          </a:r>
          <a:r>
            <a:rPr lang="en-IN" b="0" i="0" dirty="0"/>
            <a:t> vs. ₹16–30 Lakhs for proprietary Caterpillar/Hexagon systems.</a:t>
          </a:r>
          <a:endParaRPr lang="en-IN" dirty="0"/>
        </a:p>
      </dgm:t>
    </dgm:pt>
    <dgm:pt modelId="{253E5A09-0CC7-4DC1-AED3-52D65A8CD6D8}" type="parTrans" cxnId="{97F795B9-332D-4CFA-8367-E0D0C19E86C9}">
      <dgm:prSet/>
      <dgm:spPr/>
      <dgm:t>
        <a:bodyPr/>
        <a:lstStyle/>
        <a:p>
          <a:endParaRPr lang="en-IN"/>
        </a:p>
      </dgm:t>
    </dgm:pt>
    <dgm:pt modelId="{58A7554D-3477-40AD-90A5-A58810F95079}" type="sibTrans" cxnId="{97F795B9-332D-4CFA-8367-E0D0C19E86C9}">
      <dgm:prSet/>
      <dgm:spPr/>
      <dgm:t>
        <a:bodyPr/>
        <a:lstStyle/>
        <a:p>
          <a:endParaRPr lang="en-IN"/>
        </a:p>
      </dgm:t>
    </dgm:pt>
    <dgm:pt modelId="{446C02F9-F32A-4E47-8A40-E42829C15208}">
      <dgm:prSet phldrT="[Text]"/>
      <dgm:spPr/>
      <dgm:t>
        <a:bodyPr/>
        <a:lstStyle/>
        <a:p>
          <a:pPr>
            <a:buNone/>
          </a:pPr>
          <a:r>
            <a:rPr lang="en-IN" b="1" i="0" dirty="0"/>
            <a:t>Statutory DGMS Compliance</a:t>
          </a:r>
          <a:br>
            <a:rPr lang="en-IN" b="1" i="0" dirty="0"/>
          </a:br>
          <a:br>
            <a:rPr lang="en-IN" b="1" i="0" dirty="0"/>
          </a:br>
          <a:r>
            <a:rPr lang="en-US" b="0" i="0" dirty="0"/>
            <a:t>100% compliant with Directorate General of Mines Safety (DGMS) mandatory Collision Avoidance System norms.</a:t>
          </a:r>
          <a:r>
            <a:rPr lang="en-IN" b="1" i="0" dirty="0"/>
            <a:t>Statutory DGMS Compliance</a:t>
          </a:r>
          <a:endParaRPr lang="en-IN" dirty="0"/>
        </a:p>
      </dgm:t>
    </dgm:pt>
    <dgm:pt modelId="{359A4B6A-1BC0-4CBD-9C65-3AB7BDBD6729}" type="parTrans" cxnId="{D87EBBF0-5CAC-4E68-892B-BCCB512B274A}">
      <dgm:prSet/>
      <dgm:spPr/>
      <dgm:t>
        <a:bodyPr/>
        <a:lstStyle/>
        <a:p>
          <a:endParaRPr lang="en-IN"/>
        </a:p>
      </dgm:t>
    </dgm:pt>
    <dgm:pt modelId="{FD22B157-FBFD-49D5-923C-127FC1E078F4}" type="sibTrans" cxnId="{D87EBBF0-5CAC-4E68-892B-BCCB512B274A}">
      <dgm:prSet/>
      <dgm:spPr/>
      <dgm:t>
        <a:bodyPr/>
        <a:lstStyle/>
        <a:p>
          <a:endParaRPr lang="en-IN"/>
        </a:p>
      </dgm:t>
    </dgm:pt>
    <dgm:pt modelId="{D036343C-766B-40C8-A085-C0DF3221F64E}">
      <dgm:prSet phldrT="[Text]"/>
      <dgm:spPr/>
      <dgm:t>
        <a:bodyPr/>
        <a:lstStyle/>
        <a:p>
          <a:pPr>
            <a:buNone/>
          </a:pPr>
          <a:r>
            <a:rPr lang="en-IN" b="1" i="0" dirty="0"/>
            <a:t>Environmental Decarbonization</a:t>
          </a:r>
          <a:br>
            <a:rPr lang="en-IN" b="1" i="0" dirty="0"/>
          </a:br>
          <a:br>
            <a:rPr lang="en-IN" b="1" i="0" dirty="0"/>
          </a:br>
          <a:r>
            <a:rPr lang="en-US" b="0" i="0" dirty="0"/>
            <a:t>Eliminates thousands of hours of diesel engine idling during monsoon shutdowns, saving fuel and cutting CO₂ emissions.</a:t>
          </a:r>
          <a:endParaRPr lang="en-IN" dirty="0"/>
        </a:p>
      </dgm:t>
    </dgm:pt>
    <dgm:pt modelId="{456AF72E-0598-4E5B-B519-5B89D6C73B2F}" type="parTrans" cxnId="{DD3FCDEA-320D-45AD-8DE2-AD1B022285FB}">
      <dgm:prSet/>
      <dgm:spPr/>
      <dgm:t>
        <a:bodyPr/>
        <a:lstStyle/>
        <a:p>
          <a:endParaRPr lang="en-IN"/>
        </a:p>
      </dgm:t>
    </dgm:pt>
    <dgm:pt modelId="{B3B8D1CB-EDC2-49D0-8714-AC51DC91D7EA}" type="sibTrans" cxnId="{DD3FCDEA-320D-45AD-8DE2-AD1B022285FB}">
      <dgm:prSet/>
      <dgm:spPr/>
      <dgm:t>
        <a:bodyPr/>
        <a:lstStyle/>
        <a:p>
          <a:endParaRPr lang="en-IN"/>
        </a:p>
      </dgm:t>
    </dgm:pt>
    <dgm:pt modelId="{ED553D6F-F1A1-42D7-9A81-E8048CB2EEDE}" type="pres">
      <dgm:prSet presAssocID="{4F723929-19D5-485D-A96A-C4F91CB719DF}" presName="linear" presStyleCnt="0">
        <dgm:presLayoutVars>
          <dgm:dir/>
          <dgm:resizeHandles val="exact"/>
        </dgm:presLayoutVars>
      </dgm:prSet>
      <dgm:spPr/>
    </dgm:pt>
    <dgm:pt modelId="{95CD98E1-C4FE-4220-84E9-046077D97351}" type="pres">
      <dgm:prSet presAssocID="{5A193481-D8D0-4D37-AD81-EBD16EC80386}" presName="comp" presStyleCnt="0"/>
      <dgm:spPr/>
    </dgm:pt>
    <dgm:pt modelId="{EB86DDE5-77A1-4767-AC7D-3BBDF1694197}" type="pres">
      <dgm:prSet presAssocID="{5A193481-D8D0-4D37-AD81-EBD16EC80386}" presName="box" presStyleLbl="node1" presStyleIdx="0" presStyleCnt="4"/>
      <dgm:spPr/>
    </dgm:pt>
    <dgm:pt modelId="{285F30B3-B33F-4F60-BE7B-D14413E5567B}" type="pres">
      <dgm:prSet presAssocID="{5A193481-D8D0-4D37-AD81-EBD16EC80386}" presName="img" presStyleLbl="fgImgPlac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16000" b="-16000"/>
          </a:stretch>
        </a:blipFill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A0D5E8F8-66B2-4370-A442-879F3EBFB359}" type="pres">
      <dgm:prSet presAssocID="{5A193481-D8D0-4D37-AD81-EBD16EC80386}" presName="text" presStyleLbl="node1" presStyleIdx="0" presStyleCnt="4">
        <dgm:presLayoutVars>
          <dgm:bulletEnabled val="1"/>
        </dgm:presLayoutVars>
      </dgm:prSet>
      <dgm:spPr/>
    </dgm:pt>
    <dgm:pt modelId="{DC4E4C88-BCC6-4A5F-92E8-802BFFDE87C5}" type="pres">
      <dgm:prSet presAssocID="{58A7554D-3477-40AD-90A5-A58810F95079}" presName="spacer" presStyleCnt="0"/>
      <dgm:spPr/>
    </dgm:pt>
    <dgm:pt modelId="{051EF7CA-2334-4AA6-9808-FB11394CE9E2}" type="pres">
      <dgm:prSet presAssocID="{447AAC41-67F9-47D5-BCE1-F32B740EF3F7}" presName="comp" presStyleCnt="0"/>
      <dgm:spPr/>
    </dgm:pt>
    <dgm:pt modelId="{F3A9C33D-8712-4201-986E-F182EA34B3FC}" type="pres">
      <dgm:prSet presAssocID="{447AAC41-67F9-47D5-BCE1-F32B740EF3F7}" presName="box" presStyleLbl="node1" presStyleIdx="1" presStyleCnt="4"/>
      <dgm:spPr/>
    </dgm:pt>
    <dgm:pt modelId="{EDEF156C-BC95-46D3-AA12-5A9E326DD6A5}" type="pres">
      <dgm:prSet presAssocID="{447AAC41-67F9-47D5-BCE1-F32B740EF3F7}" presName="img" presStyleLbl="fgImgPlac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16000" b="-16000"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5FCE9DD2-88E7-4371-AD89-FA2B35488D1F}" type="pres">
      <dgm:prSet presAssocID="{447AAC41-67F9-47D5-BCE1-F32B740EF3F7}" presName="text" presStyleLbl="node1" presStyleIdx="1" presStyleCnt="4">
        <dgm:presLayoutVars>
          <dgm:bulletEnabled val="1"/>
        </dgm:presLayoutVars>
      </dgm:prSet>
      <dgm:spPr/>
    </dgm:pt>
    <dgm:pt modelId="{B97A6E1B-1212-4FC0-80C9-BF52E16787E5}" type="pres">
      <dgm:prSet presAssocID="{27A283F1-6924-4B93-8CFF-87EB63CA2015}" presName="spacer" presStyleCnt="0"/>
      <dgm:spPr/>
    </dgm:pt>
    <dgm:pt modelId="{442D795A-CA94-454C-94F2-0EB19DB9235A}" type="pres">
      <dgm:prSet presAssocID="{446C02F9-F32A-4E47-8A40-E42829C15208}" presName="comp" presStyleCnt="0"/>
      <dgm:spPr/>
    </dgm:pt>
    <dgm:pt modelId="{931B04C3-30B2-469E-BF81-F11EE414ACC8}" type="pres">
      <dgm:prSet presAssocID="{446C02F9-F32A-4E47-8A40-E42829C15208}" presName="box" presStyleLbl="node1" presStyleIdx="2" presStyleCnt="4"/>
      <dgm:spPr/>
    </dgm:pt>
    <dgm:pt modelId="{F5A0DCA0-B5ED-444D-A9E8-C50C3D4406B9}" type="pres">
      <dgm:prSet presAssocID="{446C02F9-F32A-4E47-8A40-E42829C15208}" presName="img" presStyleLbl="fgImgPlac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16000" b="-16000"/>
          </a:stretch>
        </a:blipFill>
      </dgm:spPr>
      <dgm:extLst>
        <a:ext uri="{E40237B7-FDA0-4F09-8148-C483321AD2D9}">
          <dgm14:cNvPr xmlns:dgm14="http://schemas.microsoft.com/office/drawing/2010/diagram" id="0" name="" descr="Trophy"/>
        </a:ext>
      </dgm:extLst>
    </dgm:pt>
    <dgm:pt modelId="{9752E36F-028F-49E6-AD56-D59A22BC284D}" type="pres">
      <dgm:prSet presAssocID="{446C02F9-F32A-4E47-8A40-E42829C15208}" presName="text" presStyleLbl="node1" presStyleIdx="2" presStyleCnt="4">
        <dgm:presLayoutVars>
          <dgm:bulletEnabled val="1"/>
        </dgm:presLayoutVars>
      </dgm:prSet>
      <dgm:spPr/>
    </dgm:pt>
    <dgm:pt modelId="{26252EE7-84DA-49AF-BFDC-B7F7A3FDEFA9}" type="pres">
      <dgm:prSet presAssocID="{FD22B157-FBFD-49D5-923C-127FC1E078F4}" presName="spacer" presStyleCnt="0"/>
      <dgm:spPr/>
    </dgm:pt>
    <dgm:pt modelId="{57D50EEE-6E61-49C6-B9BA-3F50955E07B4}" type="pres">
      <dgm:prSet presAssocID="{D036343C-766B-40C8-A085-C0DF3221F64E}" presName="comp" presStyleCnt="0"/>
      <dgm:spPr/>
    </dgm:pt>
    <dgm:pt modelId="{7A24234D-F44A-4750-91E8-D826E658A874}" type="pres">
      <dgm:prSet presAssocID="{D036343C-766B-40C8-A085-C0DF3221F64E}" presName="box" presStyleLbl="node1" presStyleIdx="3" presStyleCnt="4"/>
      <dgm:spPr/>
    </dgm:pt>
    <dgm:pt modelId="{EC344AFD-6974-4E56-BCC2-8B8BFAFE727D}" type="pres">
      <dgm:prSet presAssocID="{D036343C-766B-40C8-A085-C0DF3221F64E}" presName="img" presStyleLbl="fgImgPlac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 t="-19000" b="-19000"/>
          </a:stretch>
        </a:blipFill>
      </dgm:spPr>
      <dgm:extLst>
        <a:ext uri="{E40237B7-FDA0-4F09-8148-C483321AD2D9}">
          <dgm14:cNvPr xmlns:dgm14="http://schemas.microsoft.com/office/drawing/2010/diagram" id="0" name="" descr="Leaf"/>
        </a:ext>
      </dgm:extLst>
    </dgm:pt>
    <dgm:pt modelId="{86D94470-EB55-46EF-BC7D-8169C3B036AE}" type="pres">
      <dgm:prSet presAssocID="{D036343C-766B-40C8-A085-C0DF3221F64E}" presName="text" presStyleLbl="node1" presStyleIdx="3" presStyleCnt="4">
        <dgm:presLayoutVars>
          <dgm:bulletEnabled val="1"/>
        </dgm:presLayoutVars>
      </dgm:prSet>
      <dgm:spPr/>
    </dgm:pt>
  </dgm:ptLst>
  <dgm:cxnLst>
    <dgm:cxn modelId="{74A96212-F570-4B85-B1A4-AB4B83735E34}" type="presOf" srcId="{446C02F9-F32A-4E47-8A40-E42829C15208}" destId="{9752E36F-028F-49E6-AD56-D59A22BC284D}" srcOrd="1" destOrd="0" presId="urn:microsoft.com/office/officeart/2005/8/layout/vList4"/>
    <dgm:cxn modelId="{0AF1831A-BC1B-4F88-8A91-E1E4CDA76EDC}" type="presOf" srcId="{447AAC41-67F9-47D5-BCE1-F32B740EF3F7}" destId="{5FCE9DD2-88E7-4371-AD89-FA2B35488D1F}" srcOrd="1" destOrd="0" presId="urn:microsoft.com/office/officeart/2005/8/layout/vList4"/>
    <dgm:cxn modelId="{B4D09E2A-09DF-48F2-A3B0-39AF1E4C3E56}" type="presOf" srcId="{5A193481-D8D0-4D37-AD81-EBD16EC80386}" destId="{EB86DDE5-77A1-4767-AC7D-3BBDF1694197}" srcOrd="0" destOrd="0" presId="urn:microsoft.com/office/officeart/2005/8/layout/vList4"/>
    <dgm:cxn modelId="{7F7C523A-4840-4ACC-91FF-E396AF2996C6}" type="presOf" srcId="{447AAC41-67F9-47D5-BCE1-F32B740EF3F7}" destId="{F3A9C33D-8712-4201-986E-F182EA34B3FC}" srcOrd="0" destOrd="0" presId="urn:microsoft.com/office/officeart/2005/8/layout/vList4"/>
    <dgm:cxn modelId="{BD4B405B-15D8-4874-A6D0-63F767B88F51}" type="presOf" srcId="{446C02F9-F32A-4E47-8A40-E42829C15208}" destId="{931B04C3-30B2-469E-BF81-F11EE414ACC8}" srcOrd="0" destOrd="0" presId="urn:microsoft.com/office/officeart/2005/8/layout/vList4"/>
    <dgm:cxn modelId="{2BC2077A-A48F-46A7-9604-7A7326190FB9}" type="presOf" srcId="{D036343C-766B-40C8-A085-C0DF3221F64E}" destId="{7A24234D-F44A-4750-91E8-D826E658A874}" srcOrd="0" destOrd="0" presId="urn:microsoft.com/office/officeart/2005/8/layout/vList4"/>
    <dgm:cxn modelId="{2E311088-C013-421D-99A5-DD8FB4FD1A59}" srcId="{4F723929-19D5-485D-A96A-C4F91CB719DF}" destId="{447AAC41-67F9-47D5-BCE1-F32B740EF3F7}" srcOrd="1" destOrd="0" parTransId="{3BD4CA05-1B22-47BB-BD2C-A2E81B600E72}" sibTransId="{27A283F1-6924-4B93-8CFF-87EB63CA2015}"/>
    <dgm:cxn modelId="{CF10F3B7-0D9F-4BEB-8424-B011B3E5C824}" type="presOf" srcId="{4F723929-19D5-485D-A96A-C4F91CB719DF}" destId="{ED553D6F-F1A1-42D7-9A81-E8048CB2EEDE}" srcOrd="0" destOrd="0" presId="urn:microsoft.com/office/officeart/2005/8/layout/vList4"/>
    <dgm:cxn modelId="{97F795B9-332D-4CFA-8367-E0D0C19E86C9}" srcId="{4F723929-19D5-485D-A96A-C4F91CB719DF}" destId="{5A193481-D8D0-4D37-AD81-EBD16EC80386}" srcOrd="0" destOrd="0" parTransId="{253E5A09-0CC7-4DC1-AED3-52D65A8CD6D8}" sibTransId="{58A7554D-3477-40AD-90A5-A58810F95079}"/>
    <dgm:cxn modelId="{9919F8DB-3587-42D5-AFC7-827E1C2FB607}" type="presOf" srcId="{D036343C-766B-40C8-A085-C0DF3221F64E}" destId="{86D94470-EB55-46EF-BC7D-8169C3B036AE}" srcOrd="1" destOrd="0" presId="urn:microsoft.com/office/officeart/2005/8/layout/vList4"/>
    <dgm:cxn modelId="{DD3FCDEA-320D-45AD-8DE2-AD1B022285FB}" srcId="{4F723929-19D5-485D-A96A-C4F91CB719DF}" destId="{D036343C-766B-40C8-A085-C0DF3221F64E}" srcOrd="3" destOrd="0" parTransId="{456AF72E-0598-4E5B-B519-5B89D6C73B2F}" sibTransId="{B3B8D1CB-EDC2-49D0-8714-AC51DC91D7EA}"/>
    <dgm:cxn modelId="{D87EBBF0-5CAC-4E68-892B-BCCB512B274A}" srcId="{4F723929-19D5-485D-A96A-C4F91CB719DF}" destId="{446C02F9-F32A-4E47-8A40-E42829C15208}" srcOrd="2" destOrd="0" parTransId="{359A4B6A-1BC0-4CBD-9C65-3AB7BDBD6729}" sibTransId="{FD22B157-FBFD-49D5-923C-127FC1E078F4}"/>
    <dgm:cxn modelId="{7F67C7F6-BC7A-47AA-B0E1-7154316A2634}" type="presOf" srcId="{5A193481-D8D0-4D37-AD81-EBD16EC80386}" destId="{A0D5E8F8-66B2-4370-A442-879F3EBFB359}" srcOrd="1" destOrd="0" presId="urn:microsoft.com/office/officeart/2005/8/layout/vList4"/>
    <dgm:cxn modelId="{F19E8873-CECF-43A0-B5D8-6C75DBDCF4D6}" type="presParOf" srcId="{ED553D6F-F1A1-42D7-9A81-E8048CB2EEDE}" destId="{95CD98E1-C4FE-4220-84E9-046077D97351}" srcOrd="0" destOrd="0" presId="urn:microsoft.com/office/officeart/2005/8/layout/vList4"/>
    <dgm:cxn modelId="{AD2ECDB7-5385-425F-959D-F46DCAAB6526}" type="presParOf" srcId="{95CD98E1-C4FE-4220-84E9-046077D97351}" destId="{EB86DDE5-77A1-4767-AC7D-3BBDF1694197}" srcOrd="0" destOrd="0" presId="urn:microsoft.com/office/officeart/2005/8/layout/vList4"/>
    <dgm:cxn modelId="{981A1C72-C058-424C-9A6F-D9D7A40677CE}" type="presParOf" srcId="{95CD98E1-C4FE-4220-84E9-046077D97351}" destId="{285F30B3-B33F-4F60-BE7B-D14413E5567B}" srcOrd="1" destOrd="0" presId="urn:microsoft.com/office/officeart/2005/8/layout/vList4"/>
    <dgm:cxn modelId="{52A304B2-0856-453F-8461-2B89A515AF6A}" type="presParOf" srcId="{95CD98E1-C4FE-4220-84E9-046077D97351}" destId="{A0D5E8F8-66B2-4370-A442-879F3EBFB359}" srcOrd="2" destOrd="0" presId="urn:microsoft.com/office/officeart/2005/8/layout/vList4"/>
    <dgm:cxn modelId="{E1C5C8DA-AFBA-4D32-8181-D7F0745FD25B}" type="presParOf" srcId="{ED553D6F-F1A1-42D7-9A81-E8048CB2EEDE}" destId="{DC4E4C88-BCC6-4A5F-92E8-802BFFDE87C5}" srcOrd="1" destOrd="0" presId="urn:microsoft.com/office/officeart/2005/8/layout/vList4"/>
    <dgm:cxn modelId="{94251509-ABF3-4D14-B88D-66C828C76F36}" type="presParOf" srcId="{ED553D6F-F1A1-42D7-9A81-E8048CB2EEDE}" destId="{051EF7CA-2334-4AA6-9808-FB11394CE9E2}" srcOrd="2" destOrd="0" presId="urn:microsoft.com/office/officeart/2005/8/layout/vList4"/>
    <dgm:cxn modelId="{3689E947-1B0A-4D59-BBE6-514839DD2CDD}" type="presParOf" srcId="{051EF7CA-2334-4AA6-9808-FB11394CE9E2}" destId="{F3A9C33D-8712-4201-986E-F182EA34B3FC}" srcOrd="0" destOrd="0" presId="urn:microsoft.com/office/officeart/2005/8/layout/vList4"/>
    <dgm:cxn modelId="{E68F3DF2-BB01-49E5-88E3-EB23F8EFDEAF}" type="presParOf" srcId="{051EF7CA-2334-4AA6-9808-FB11394CE9E2}" destId="{EDEF156C-BC95-46D3-AA12-5A9E326DD6A5}" srcOrd="1" destOrd="0" presId="urn:microsoft.com/office/officeart/2005/8/layout/vList4"/>
    <dgm:cxn modelId="{B14AC313-CF82-4724-98EE-FED4BE1C981A}" type="presParOf" srcId="{051EF7CA-2334-4AA6-9808-FB11394CE9E2}" destId="{5FCE9DD2-88E7-4371-AD89-FA2B35488D1F}" srcOrd="2" destOrd="0" presId="urn:microsoft.com/office/officeart/2005/8/layout/vList4"/>
    <dgm:cxn modelId="{D8384A09-CB3F-4762-B442-D16337DCB6E8}" type="presParOf" srcId="{ED553D6F-F1A1-42D7-9A81-E8048CB2EEDE}" destId="{B97A6E1B-1212-4FC0-80C9-BF52E16787E5}" srcOrd="3" destOrd="0" presId="urn:microsoft.com/office/officeart/2005/8/layout/vList4"/>
    <dgm:cxn modelId="{19438DB3-93F2-4887-893B-C343C80DF953}" type="presParOf" srcId="{ED553D6F-F1A1-42D7-9A81-E8048CB2EEDE}" destId="{442D795A-CA94-454C-94F2-0EB19DB9235A}" srcOrd="4" destOrd="0" presId="urn:microsoft.com/office/officeart/2005/8/layout/vList4"/>
    <dgm:cxn modelId="{1AE36C88-2085-4CC8-A96C-6ED42219505A}" type="presParOf" srcId="{442D795A-CA94-454C-94F2-0EB19DB9235A}" destId="{931B04C3-30B2-469E-BF81-F11EE414ACC8}" srcOrd="0" destOrd="0" presId="urn:microsoft.com/office/officeart/2005/8/layout/vList4"/>
    <dgm:cxn modelId="{94D20DD1-7B04-49C6-837B-894E6CE4E066}" type="presParOf" srcId="{442D795A-CA94-454C-94F2-0EB19DB9235A}" destId="{F5A0DCA0-B5ED-444D-A9E8-C50C3D4406B9}" srcOrd="1" destOrd="0" presId="urn:microsoft.com/office/officeart/2005/8/layout/vList4"/>
    <dgm:cxn modelId="{23A86DB3-35D7-4CDF-825A-A90F5BD635F6}" type="presParOf" srcId="{442D795A-CA94-454C-94F2-0EB19DB9235A}" destId="{9752E36F-028F-49E6-AD56-D59A22BC284D}" srcOrd="2" destOrd="0" presId="urn:microsoft.com/office/officeart/2005/8/layout/vList4"/>
    <dgm:cxn modelId="{1BBFD9A0-D3DF-4470-87C4-D857DB4975F1}" type="presParOf" srcId="{ED553D6F-F1A1-42D7-9A81-E8048CB2EEDE}" destId="{26252EE7-84DA-49AF-BFDC-B7F7A3FDEFA9}" srcOrd="5" destOrd="0" presId="urn:microsoft.com/office/officeart/2005/8/layout/vList4"/>
    <dgm:cxn modelId="{D41C71EE-41D3-4F6C-8C9F-BE6A7785BD3F}" type="presParOf" srcId="{ED553D6F-F1A1-42D7-9A81-E8048CB2EEDE}" destId="{57D50EEE-6E61-49C6-B9BA-3F50955E07B4}" srcOrd="6" destOrd="0" presId="urn:microsoft.com/office/officeart/2005/8/layout/vList4"/>
    <dgm:cxn modelId="{BB94A236-D076-4E69-832F-90CB94AA16C4}" type="presParOf" srcId="{57D50EEE-6E61-49C6-B9BA-3F50955E07B4}" destId="{7A24234D-F44A-4750-91E8-D826E658A874}" srcOrd="0" destOrd="0" presId="urn:microsoft.com/office/officeart/2005/8/layout/vList4"/>
    <dgm:cxn modelId="{C50A8C32-616C-477F-8749-5CA6DCCA3253}" type="presParOf" srcId="{57D50EEE-6E61-49C6-B9BA-3F50955E07B4}" destId="{EC344AFD-6974-4E56-BCC2-8B8BFAFE727D}" srcOrd="1" destOrd="0" presId="urn:microsoft.com/office/officeart/2005/8/layout/vList4"/>
    <dgm:cxn modelId="{EFAE79E9-AFC3-4596-97A2-F8FBE785B4EC}" type="presParOf" srcId="{57D50EEE-6E61-49C6-B9BA-3F50955E07B4}" destId="{86D94470-EB55-46EF-BC7D-8169C3B036AE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2B4EEF-B5AB-41A6-A620-F31329F22786}">
      <dsp:nvSpPr>
        <dsp:cNvPr id="0" name=""/>
        <dsp:cNvSpPr/>
      </dsp:nvSpPr>
      <dsp:spPr>
        <a:xfrm>
          <a:off x="413191" y="1603"/>
          <a:ext cx="2588876" cy="11901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Modular hardware</a:t>
          </a: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– Thermal, LiDAR, Radar, Stereo and GPS can be integrated as independent sensor modules. 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3191" y="1603"/>
        <a:ext cx="2588876" cy="1190133"/>
      </dsp:txXfrm>
    </dsp:sp>
    <dsp:sp modelId="{1EF67852-F9B4-4316-AA0C-A6E713F7F59D}">
      <dsp:nvSpPr>
        <dsp:cNvPr id="0" name=""/>
        <dsp:cNvSpPr/>
      </dsp:nvSpPr>
      <dsp:spPr>
        <a:xfrm>
          <a:off x="3200424" y="1603"/>
          <a:ext cx="2588400" cy="11901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Edge processing</a:t>
          </a: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IN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Raspberry Pi 5 + Coral</a:t>
          </a: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handles AI, sensor fusion and safety decisions. 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00424" y="1603"/>
        <a:ext cx="2588400" cy="1190133"/>
      </dsp:txXfrm>
    </dsp:sp>
    <dsp:sp modelId="{89095608-F72B-4840-951F-E07C6F5432B2}">
      <dsp:nvSpPr>
        <dsp:cNvPr id="0" name=""/>
        <dsp:cNvSpPr/>
      </dsp:nvSpPr>
      <dsp:spPr>
        <a:xfrm>
          <a:off x="413429" y="1390092"/>
          <a:ext cx="2588400" cy="11901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Dedicated safety controller</a:t>
          </a: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IN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ESP32-S3</a:t>
          </a: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manages sensor interfaces, alerts, V2V communication and watchdog functions. 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3429" y="1390092"/>
        <a:ext cx="2588400" cy="1190133"/>
      </dsp:txXfrm>
    </dsp:sp>
    <dsp:sp modelId="{A17FC420-EF9B-46C5-AADD-86CC582A9E64}">
      <dsp:nvSpPr>
        <dsp:cNvPr id="0" name=""/>
        <dsp:cNvSpPr/>
      </dsp:nvSpPr>
      <dsp:spPr>
        <a:xfrm>
          <a:off x="3200186" y="1390092"/>
          <a:ext cx="2588400" cy="11901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Open-source software</a:t>
          </a: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IN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YOLO, OpenCV, Kalman Filter, MQTT and Web technologies</a:t>
          </a: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reduce development dependency. 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00186" y="1390092"/>
        <a:ext cx="2588400" cy="1190133"/>
      </dsp:txXfrm>
    </dsp:sp>
    <dsp:sp modelId="{E3BDB285-F29B-4B60-AD07-8A9BB5E46CEF}">
      <dsp:nvSpPr>
        <dsp:cNvPr id="0" name=""/>
        <dsp:cNvSpPr/>
      </dsp:nvSpPr>
      <dsp:spPr>
        <a:xfrm>
          <a:off x="1806808" y="2778581"/>
          <a:ext cx="2588400" cy="11901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Fallback architecture</a:t>
          </a: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– Basic safety can continue through </a:t>
          </a:r>
          <a:r>
            <a:rPr lang="en-IN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ESP32 + LiDAR/Radar</a:t>
          </a: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if the main compute unit fails.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06808" y="2778581"/>
        <a:ext cx="2588400" cy="11901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86DDE5-77A1-4767-AC7D-3BBDF1694197}">
      <dsp:nvSpPr>
        <dsp:cNvPr id="0" name=""/>
        <dsp:cNvSpPr/>
      </dsp:nvSpPr>
      <dsp:spPr>
        <a:xfrm>
          <a:off x="0" y="0"/>
          <a:ext cx="4740391" cy="107552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i="0" kern="1200" dirty="0"/>
            <a:t>Capital Efficiency</a:t>
          </a:r>
          <a:br>
            <a:rPr lang="en-IN" sz="1300" b="1" i="0" kern="1200" dirty="0"/>
          </a:br>
          <a:br>
            <a:rPr lang="en-IN" sz="1300" b="1" i="0" kern="1200" dirty="0"/>
          </a:br>
          <a:r>
            <a:rPr lang="en-IN" sz="1300" b="0" i="0" kern="1200" dirty="0"/>
            <a:t>Retrofit BOM costs </a:t>
          </a:r>
          <a:r>
            <a:rPr lang="en-IN" sz="1300" b="1" i="0" kern="1200" dirty="0"/>
            <a:t>&lt; ₹35,000 per truck</a:t>
          </a:r>
          <a:r>
            <a:rPr lang="en-IN" sz="1300" b="0" i="0" kern="1200" dirty="0"/>
            <a:t> vs. ₹16–30 Lakhs for proprietary Caterpillar/Hexagon systems.</a:t>
          </a:r>
          <a:endParaRPr lang="en-IN" sz="1300" kern="1200" dirty="0"/>
        </a:p>
      </dsp:txBody>
      <dsp:txXfrm>
        <a:off x="1055630" y="0"/>
        <a:ext cx="3684760" cy="1075521"/>
      </dsp:txXfrm>
    </dsp:sp>
    <dsp:sp modelId="{285F30B3-B33F-4F60-BE7B-D14413E5567B}">
      <dsp:nvSpPr>
        <dsp:cNvPr id="0" name=""/>
        <dsp:cNvSpPr/>
      </dsp:nvSpPr>
      <dsp:spPr>
        <a:xfrm>
          <a:off x="107552" y="107552"/>
          <a:ext cx="948078" cy="86041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16000" b="-16000"/>
          </a:stretch>
        </a:blip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A9C33D-8712-4201-986E-F182EA34B3FC}">
      <dsp:nvSpPr>
        <dsp:cNvPr id="0" name=""/>
        <dsp:cNvSpPr/>
      </dsp:nvSpPr>
      <dsp:spPr>
        <a:xfrm>
          <a:off x="0" y="1183073"/>
          <a:ext cx="4740391" cy="107552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i="0" kern="1200"/>
            <a:t>Economic Savings</a:t>
          </a:r>
          <a:br>
            <a:rPr lang="en-IN" sz="1300" b="1" i="0" kern="1200"/>
          </a:br>
          <a:br>
            <a:rPr lang="en-IN" sz="1300" b="1" i="0" kern="1200"/>
          </a:br>
          <a:r>
            <a:rPr lang="en-US" sz="1300" b="0" i="0" kern="1200"/>
            <a:t>Saves </a:t>
          </a:r>
          <a:r>
            <a:rPr lang="en-US" sz="1300" b="1" i="0" kern="1200"/>
            <a:t>₹8–15+ Crores annually</a:t>
          </a:r>
          <a:r>
            <a:rPr lang="en-US" sz="1300" b="0" i="0" kern="1200"/>
            <a:t> per complex by eliminating idle multimillion-dollar fleet standbys and delayed ore evacuation.</a:t>
          </a:r>
          <a:endParaRPr lang="en-IN" sz="1300" kern="1200" dirty="0"/>
        </a:p>
      </dsp:txBody>
      <dsp:txXfrm>
        <a:off x="1055630" y="1183073"/>
        <a:ext cx="3684760" cy="1075521"/>
      </dsp:txXfrm>
    </dsp:sp>
    <dsp:sp modelId="{EDEF156C-BC95-46D3-AA12-5A9E326DD6A5}">
      <dsp:nvSpPr>
        <dsp:cNvPr id="0" name=""/>
        <dsp:cNvSpPr/>
      </dsp:nvSpPr>
      <dsp:spPr>
        <a:xfrm>
          <a:off x="107552" y="1290625"/>
          <a:ext cx="948078" cy="86041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16000" b="-16000"/>
          </a:stretch>
        </a:blip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B04C3-30B2-469E-BF81-F11EE414ACC8}">
      <dsp:nvSpPr>
        <dsp:cNvPr id="0" name=""/>
        <dsp:cNvSpPr/>
      </dsp:nvSpPr>
      <dsp:spPr>
        <a:xfrm>
          <a:off x="0" y="2366147"/>
          <a:ext cx="4740391" cy="107552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i="0" kern="1200" dirty="0"/>
            <a:t>Statutory DGMS Compliance</a:t>
          </a:r>
          <a:br>
            <a:rPr lang="en-IN" sz="1300" b="1" i="0" kern="1200" dirty="0"/>
          </a:br>
          <a:br>
            <a:rPr lang="en-IN" sz="1300" b="1" i="0" kern="1200" dirty="0"/>
          </a:br>
          <a:r>
            <a:rPr lang="en-US" sz="1300" b="0" i="0" kern="1200" dirty="0"/>
            <a:t>100% compliant with Directorate General of Mines Safety (DGMS) mandatory Collision Avoidance System norms.</a:t>
          </a:r>
          <a:r>
            <a:rPr lang="en-IN" sz="1300" b="1" i="0" kern="1200" dirty="0"/>
            <a:t>Statutory DGMS Compliance</a:t>
          </a:r>
          <a:endParaRPr lang="en-IN" sz="1300" kern="1200" dirty="0"/>
        </a:p>
      </dsp:txBody>
      <dsp:txXfrm>
        <a:off x="1055630" y="2366147"/>
        <a:ext cx="3684760" cy="1075521"/>
      </dsp:txXfrm>
    </dsp:sp>
    <dsp:sp modelId="{F5A0DCA0-B5ED-444D-A9E8-C50C3D4406B9}">
      <dsp:nvSpPr>
        <dsp:cNvPr id="0" name=""/>
        <dsp:cNvSpPr/>
      </dsp:nvSpPr>
      <dsp:spPr>
        <a:xfrm>
          <a:off x="107552" y="2473699"/>
          <a:ext cx="948078" cy="86041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16000" b="-16000"/>
          </a:stretch>
        </a:blip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24234D-F44A-4750-91E8-D826E658A874}">
      <dsp:nvSpPr>
        <dsp:cNvPr id="0" name=""/>
        <dsp:cNvSpPr/>
      </dsp:nvSpPr>
      <dsp:spPr>
        <a:xfrm>
          <a:off x="0" y="3549221"/>
          <a:ext cx="4740391" cy="107552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i="0" kern="1200" dirty="0"/>
            <a:t>Environmental Decarbonization</a:t>
          </a:r>
          <a:br>
            <a:rPr lang="en-IN" sz="1300" b="1" i="0" kern="1200" dirty="0"/>
          </a:br>
          <a:br>
            <a:rPr lang="en-IN" sz="1300" b="1" i="0" kern="1200" dirty="0"/>
          </a:br>
          <a:r>
            <a:rPr lang="en-US" sz="1300" b="0" i="0" kern="1200" dirty="0"/>
            <a:t>Eliminates thousands of hours of diesel engine idling during monsoon shutdowns, saving fuel and cutting CO₂ emissions.</a:t>
          </a:r>
          <a:endParaRPr lang="en-IN" sz="1300" kern="1200" dirty="0"/>
        </a:p>
      </dsp:txBody>
      <dsp:txXfrm>
        <a:off x="1055630" y="3549221"/>
        <a:ext cx="3684760" cy="1075521"/>
      </dsp:txXfrm>
    </dsp:sp>
    <dsp:sp modelId="{EC344AFD-6974-4E56-BCC2-8B8BFAFE727D}">
      <dsp:nvSpPr>
        <dsp:cNvPr id="0" name=""/>
        <dsp:cNvSpPr/>
      </dsp:nvSpPr>
      <dsp:spPr>
        <a:xfrm>
          <a:off x="107552" y="3656773"/>
          <a:ext cx="948078" cy="86041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 t="-19000" b="-19000"/>
          </a:stretch>
        </a:blip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hyperlink" Target="https://ibb.co/jkmQDGTW" TargetMode="External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hyperlink" Target="https://ibb.co/NdbxLTSM" TargetMode="External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2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11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microsoft.com/office/2007/relationships/diagramDrawing" Target="../diagrams/drawing1.xml"/><Relationship Id="rId4" Type="http://schemas.openxmlformats.org/officeDocument/2006/relationships/image" Target="../media/image23.png"/><Relationship Id="rId9" Type="http://schemas.openxmlformats.org/officeDocument/2006/relationships/diagramColors" Target="../diagrams/colors1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hyperlink" Target="https://hexagon.com/products/hexagon-op-collision-avoidance-system?tabId=tab-6651F7E700364943AD9695837660A71F-2-1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37.svg"/><Relationship Id="rId12" Type="http://schemas.openxmlformats.org/officeDocument/2006/relationships/hyperlink" Target="https://link.springer.com/article/10.1007/s44291-025-00054-1?utm_source=chatgpt.com" TargetMode="External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docs.oasis-open.org/mqtt/mqtt/v5.0/mqtt-v5.0.html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hyperlink" Target="https://github.com/HarshaTalap1474/SIH" TargetMode="External"/><Relationship Id="rId5" Type="http://schemas.openxmlformats.org/officeDocument/2006/relationships/image" Target="../media/image35.svg"/><Relationship Id="rId15" Type="http://schemas.openxmlformats.org/officeDocument/2006/relationships/hyperlink" Target="https://docs.opencv.org/4.13.0/d2/d85/classcv_1_1StereoSGBM.html?utm_source=chatgpt.com" TargetMode="External"/><Relationship Id="rId10" Type="http://schemas.openxmlformats.org/officeDocument/2006/relationships/image" Target="../media/image40.sv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hyperlink" Target="https://docs.ultralytics.com/models/yolov8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988490" y="214440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196841"/>
            <a:ext cx="10363200" cy="610265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5521" y="1287362"/>
            <a:ext cx="8657205" cy="4781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- SIH26007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 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MineSight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Safe and Efficient Operation of Mine Vehicles in Fog and Low-Visibility Conditions in Open Cast Iron Ore Mines.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 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WeBuildZ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 -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56B3E45-46BB-34FF-665E-1545E390AD64}"/>
              </a:ext>
            </a:extLst>
          </p:cNvPr>
          <p:cNvSpPr/>
          <p:nvPr/>
        </p:nvSpPr>
        <p:spPr>
          <a:xfrm>
            <a:off x="4164519" y="1143000"/>
            <a:ext cx="6197600" cy="2126502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BCDDA29-480E-34D8-FC47-2D3206F4A2F4}"/>
              </a:ext>
            </a:extLst>
          </p:cNvPr>
          <p:cNvSpPr/>
          <p:nvPr/>
        </p:nvSpPr>
        <p:spPr>
          <a:xfrm>
            <a:off x="435854" y="1143000"/>
            <a:ext cx="3564387" cy="4713785"/>
          </a:xfrm>
          <a:prstGeom prst="roundRect">
            <a:avLst>
              <a:gd name="adj" fmla="val 10111"/>
            </a:avLst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515135"/>
            <a:ext cx="12191999" cy="3600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MineSight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38248" y="6510010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9" name="Oval 15368" descr="Your startup LOGO">
            <a:extLst>
              <a:ext uri="{FF2B5EF4-FFF2-40B4-BE49-F238E27FC236}">
                <a16:creationId xmlns:a16="http://schemas.microsoft.com/office/drawing/2014/main" id="{71C367C8-47C7-DEFD-C9D0-0ADBBE67029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49856" cy="59270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WeBuildZ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B068B4D2-7EDA-7C53-964E-0A3B1CC18BE4}"/>
              </a:ext>
            </a:extLst>
          </p:cNvPr>
          <p:cNvSpPr txBox="1"/>
          <p:nvPr/>
        </p:nvSpPr>
        <p:spPr>
          <a:xfrm>
            <a:off x="1044180" y="1198885"/>
            <a:ext cx="2199259" cy="553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25"/>
              </a:lnSpc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Hammersmith One"/>
                <a:cs typeface="Times New Roman" panose="02020603050405020304" pitchFamily="18" charset="0"/>
                <a:sym typeface="Hammersmith One"/>
              </a:rPr>
              <a:t>PROBLEM</a:t>
            </a:r>
          </a:p>
        </p:txBody>
      </p:sp>
      <p:sp>
        <p:nvSpPr>
          <p:cNvPr id="24" name="TextBox 20">
            <a:extLst>
              <a:ext uri="{FF2B5EF4-FFF2-40B4-BE49-F238E27FC236}">
                <a16:creationId xmlns:a16="http://schemas.microsoft.com/office/drawing/2014/main" id="{A5B517CE-AF7E-F035-9297-3F6ABD4EBC5A}"/>
              </a:ext>
            </a:extLst>
          </p:cNvPr>
          <p:cNvSpPr txBox="1"/>
          <p:nvPr/>
        </p:nvSpPr>
        <p:spPr>
          <a:xfrm>
            <a:off x="3678998" y="1063837"/>
            <a:ext cx="3447889" cy="565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6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Hammersmith One"/>
                <a:cs typeface="Times New Roman" panose="02020603050405020304" pitchFamily="18" charset="0"/>
                <a:sym typeface="Hammersmith One"/>
              </a:rPr>
              <a:t>Our Solutions</a:t>
            </a:r>
          </a:p>
        </p:txBody>
      </p:sp>
      <p:sp>
        <p:nvSpPr>
          <p:cNvPr id="36" name="TextBox 32">
            <a:extLst>
              <a:ext uri="{FF2B5EF4-FFF2-40B4-BE49-F238E27FC236}">
                <a16:creationId xmlns:a16="http://schemas.microsoft.com/office/drawing/2014/main" id="{A07BAF97-C676-A526-FC1B-648A9693006B}"/>
              </a:ext>
            </a:extLst>
          </p:cNvPr>
          <p:cNvSpPr txBox="1"/>
          <p:nvPr/>
        </p:nvSpPr>
        <p:spPr>
          <a:xfrm>
            <a:off x="600132" y="2104088"/>
            <a:ext cx="3235832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u="sng" dirty="0"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Safety Crisis: </a:t>
            </a:r>
            <a:r>
              <a:rPr lang="en-US" sz="1600" dirty="0"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3–5m visibility vs 30m heavy vehicle braking distance leads to fatal rear-end collisions and steep bench roll-offs.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u="sng" dirty="0"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Economic Loss: </a:t>
            </a:r>
            <a:r>
              <a:rPr lang="en-US" sz="1600" dirty="0"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50–60 days of monsoon slowdowns per year, idling multimillion-dollar fleets and stalling ore evacuation.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u="sng" dirty="0"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Tech Gap: </a:t>
            </a:r>
            <a:r>
              <a:rPr lang="en-US" sz="1600" dirty="0"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Optical cameras fail from backscatter glare; deep pit benches have zero cellular network for cloud alerts.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u="sng" dirty="0">
                <a:latin typeface="Times New Roman" panose="02020603050405020304" pitchFamily="18" charset="0"/>
                <a:ea typeface="HK Grotesk"/>
                <a:cs typeface="Times New Roman" panose="02020603050405020304" pitchFamily="18" charset="0"/>
                <a:sym typeface="HK Grotesk"/>
              </a:rPr>
              <a:t>Connectivity Gap: </a:t>
            </a:r>
            <a:r>
              <a:rPr lang="en-US" sz="1600" dirty="0">
                <a:latin typeface="Times New Roman" panose="02020603050405020304" pitchFamily="18" charset="0"/>
                <a:ea typeface="HK Grotesk"/>
                <a:cs typeface="Times New Roman" panose="02020603050405020304" pitchFamily="18" charset="0"/>
                <a:sym typeface="HK Grotesk"/>
              </a:rPr>
              <a:t>Cameras blind from fog glare; deep mine pits lack cellular connectivity.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C318261-75AF-4FCC-535F-5BFAF8A490BB}"/>
              </a:ext>
            </a:extLst>
          </p:cNvPr>
          <p:cNvSpPr/>
          <p:nvPr/>
        </p:nvSpPr>
        <p:spPr>
          <a:xfrm>
            <a:off x="4164519" y="3515937"/>
            <a:ext cx="6197600" cy="234084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22">
            <a:extLst>
              <a:ext uri="{FF2B5EF4-FFF2-40B4-BE49-F238E27FC236}">
                <a16:creationId xmlns:a16="http://schemas.microsoft.com/office/drawing/2014/main" id="{DDDAE11A-973E-12A4-EBE9-2609C58E6DD4}"/>
              </a:ext>
            </a:extLst>
          </p:cNvPr>
          <p:cNvSpPr txBox="1"/>
          <p:nvPr/>
        </p:nvSpPr>
        <p:spPr>
          <a:xfrm>
            <a:off x="4316543" y="3515938"/>
            <a:ext cx="1960877" cy="497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1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Hammersmith One"/>
                <a:cs typeface="Times New Roman" panose="02020603050405020304" pitchFamily="18" charset="0"/>
                <a:sym typeface="Hammersmith One"/>
              </a:rPr>
              <a:t>Innovations</a:t>
            </a:r>
            <a:endParaRPr 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Hammersmith One"/>
              <a:cs typeface="Times New Roman" panose="02020603050405020304" pitchFamily="18" charset="0"/>
              <a:sym typeface="Hammersmith One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D985735-78B4-F8D6-F048-86E4774D4914}"/>
              </a:ext>
            </a:extLst>
          </p:cNvPr>
          <p:cNvSpPr txBox="1"/>
          <p:nvPr/>
        </p:nvSpPr>
        <p:spPr>
          <a:xfrm>
            <a:off x="4316543" y="1638286"/>
            <a:ext cx="594410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Safety: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Thermal-first vision (100m+ range) with in-cabin HUD road guidance and 3-stage collision auto-braking.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Shutdowns: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Restores safe 20–30 km/h haulage, recovering 50–60 lost monsoon days and ₹8–15+ Cr annually.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V2V Mesh: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Peer-to-peer LoRa network shares blind-spot obstacle data with zero reliance on cellular or internet.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AED4FA-CAA4-85A0-3516-7CC908DEAA7F}"/>
              </a:ext>
            </a:extLst>
          </p:cNvPr>
          <p:cNvSpPr txBox="1"/>
          <p:nvPr/>
        </p:nvSpPr>
        <p:spPr>
          <a:xfrm>
            <a:off x="4316543" y="3978166"/>
            <a:ext cx="594410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Cooperative Fog-Vision:</a:t>
            </a:r>
            <a:r>
              <a:rPr lang="en-IN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Peer-to-peer V2V mesh lets dumpers "see around" blind hairpin bends through other trucks' sensors.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Physics-Proof Sensor Fusion:</a:t>
            </a:r>
            <a:r>
              <a:rPr lang="en-IN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Fuses Thermal IR (penetrates fog) + LiDAR (3D geometry) + Radar (speed/rain) for 100% weather resilience.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Low-Cost Retrofit:</a:t>
            </a:r>
            <a:r>
              <a:rPr lang="en-IN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Plug-and-play modular unit costs under ₹35,000 vs. ₹16–30 Lakhs for proprietary OEM systems.</a:t>
            </a:r>
          </a:p>
        </p:txBody>
      </p:sp>
      <p:grpSp>
        <p:nvGrpSpPr>
          <p:cNvPr id="15408" name="Group 15407">
            <a:extLst>
              <a:ext uri="{FF2B5EF4-FFF2-40B4-BE49-F238E27FC236}">
                <a16:creationId xmlns:a16="http://schemas.microsoft.com/office/drawing/2014/main" id="{EA744068-BD57-D988-3698-E7DB2434F950}"/>
              </a:ext>
            </a:extLst>
          </p:cNvPr>
          <p:cNvGrpSpPr/>
          <p:nvPr/>
        </p:nvGrpSpPr>
        <p:grpSpPr>
          <a:xfrm>
            <a:off x="10622887" y="1143000"/>
            <a:ext cx="1369652" cy="4713785"/>
            <a:chOff x="10622887" y="938647"/>
            <a:chExt cx="1369652" cy="5154579"/>
          </a:xfrm>
        </p:grpSpPr>
        <p:sp>
          <p:nvSpPr>
            <p:cNvPr id="15407" name="Rectangle: Rounded Corners 15406">
              <a:extLst>
                <a:ext uri="{FF2B5EF4-FFF2-40B4-BE49-F238E27FC236}">
                  <a16:creationId xmlns:a16="http://schemas.microsoft.com/office/drawing/2014/main" id="{E1933454-EF41-2A8F-4BA1-06D94467C46E}"/>
                </a:ext>
              </a:extLst>
            </p:cNvPr>
            <p:cNvSpPr/>
            <p:nvPr/>
          </p:nvSpPr>
          <p:spPr>
            <a:xfrm>
              <a:off x="10622887" y="938647"/>
              <a:ext cx="1369652" cy="5154579"/>
            </a:xfrm>
            <a:prstGeom prst="roundRect">
              <a:avLst>
                <a:gd name="adj" fmla="val 3991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09E8FE1-3E7C-E837-8ECF-21CBA481B4DD}"/>
                </a:ext>
              </a:extLst>
            </p:cNvPr>
            <p:cNvSpPr/>
            <p:nvPr/>
          </p:nvSpPr>
          <p:spPr>
            <a:xfrm>
              <a:off x="10787294" y="1049026"/>
              <a:ext cx="1053311" cy="451718"/>
            </a:xfrm>
            <a:custGeom>
              <a:avLst/>
              <a:gdLst>
                <a:gd name="connsiteX0" fmla="*/ 0 w 810000"/>
                <a:gd name="connsiteY0" fmla="*/ 0 h 616176"/>
                <a:gd name="connsiteX1" fmla="*/ 810000 w 810000"/>
                <a:gd name="connsiteY1" fmla="*/ 0 h 616176"/>
                <a:gd name="connsiteX2" fmla="*/ 810000 w 810000"/>
                <a:gd name="connsiteY2" fmla="*/ 616176 h 616176"/>
                <a:gd name="connsiteX3" fmla="*/ 0 w 810000"/>
                <a:gd name="connsiteY3" fmla="*/ 616176 h 616176"/>
                <a:gd name="connsiteX4" fmla="*/ 0 w 810000"/>
                <a:gd name="connsiteY4" fmla="*/ 0 h 61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0000" h="616176">
                  <a:moveTo>
                    <a:pt x="0" y="0"/>
                  </a:moveTo>
                  <a:lnTo>
                    <a:pt x="810000" y="0"/>
                  </a:lnTo>
                  <a:lnTo>
                    <a:pt x="810000" y="616176"/>
                  </a:lnTo>
                  <a:lnTo>
                    <a:pt x="0" y="616176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Sensors</a:t>
              </a: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9AF0604-D4A5-7F2D-DE1D-A5E9715D05D1}"/>
                </a:ext>
              </a:extLst>
            </p:cNvPr>
            <p:cNvSpPr/>
            <p:nvPr/>
          </p:nvSpPr>
          <p:spPr>
            <a:xfrm>
              <a:off x="10789909" y="1793378"/>
              <a:ext cx="1050696" cy="449728"/>
            </a:xfrm>
            <a:custGeom>
              <a:avLst/>
              <a:gdLst>
                <a:gd name="connsiteX0" fmla="*/ 0 w 1012500"/>
                <a:gd name="connsiteY0" fmla="*/ 0 h 616176"/>
                <a:gd name="connsiteX1" fmla="*/ 1012500 w 1012500"/>
                <a:gd name="connsiteY1" fmla="*/ 0 h 616176"/>
                <a:gd name="connsiteX2" fmla="*/ 1012500 w 1012500"/>
                <a:gd name="connsiteY2" fmla="*/ 616176 h 616176"/>
                <a:gd name="connsiteX3" fmla="*/ 0 w 1012500"/>
                <a:gd name="connsiteY3" fmla="*/ 616176 h 616176"/>
                <a:gd name="connsiteX4" fmla="*/ 0 w 1012500"/>
                <a:gd name="connsiteY4" fmla="*/ 0 h 61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500" h="616176">
                  <a:moveTo>
                    <a:pt x="0" y="0"/>
                  </a:moveTo>
                  <a:lnTo>
                    <a:pt x="1012500" y="0"/>
                  </a:lnTo>
                  <a:lnTo>
                    <a:pt x="1012500" y="616176"/>
                  </a:lnTo>
                  <a:lnTo>
                    <a:pt x="0" y="616176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ESP32-S3</a:t>
              </a: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A668E65-A57A-9AA4-23CB-BB435F91ECD7}"/>
                </a:ext>
              </a:extLst>
            </p:cNvPr>
            <p:cNvSpPr/>
            <p:nvPr/>
          </p:nvSpPr>
          <p:spPr>
            <a:xfrm>
              <a:off x="10798543" y="2512733"/>
              <a:ext cx="1035000" cy="467622"/>
            </a:xfrm>
            <a:custGeom>
              <a:avLst/>
              <a:gdLst>
                <a:gd name="connsiteX0" fmla="*/ 0 w 1035000"/>
                <a:gd name="connsiteY0" fmla="*/ 0 h 616176"/>
                <a:gd name="connsiteX1" fmla="*/ 1035000 w 1035000"/>
                <a:gd name="connsiteY1" fmla="*/ 0 h 616176"/>
                <a:gd name="connsiteX2" fmla="*/ 1035000 w 1035000"/>
                <a:gd name="connsiteY2" fmla="*/ 616176 h 616176"/>
                <a:gd name="connsiteX3" fmla="*/ 0 w 1035000"/>
                <a:gd name="connsiteY3" fmla="*/ 616176 h 616176"/>
                <a:gd name="connsiteX4" fmla="*/ 0 w 1035000"/>
                <a:gd name="connsiteY4" fmla="*/ 0 h 61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5000" h="616176">
                  <a:moveTo>
                    <a:pt x="0" y="0"/>
                  </a:moveTo>
                  <a:lnTo>
                    <a:pt x="1035000" y="0"/>
                  </a:lnTo>
                  <a:lnTo>
                    <a:pt x="1035000" y="616176"/>
                  </a:lnTo>
                  <a:lnTo>
                    <a:pt x="0" y="616176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Raspberry Pi</a:t>
              </a: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3B370EE-13E8-FCDD-67AE-1C2A2406E898}"/>
                </a:ext>
              </a:extLst>
            </p:cNvPr>
            <p:cNvSpPr/>
            <p:nvPr/>
          </p:nvSpPr>
          <p:spPr>
            <a:xfrm>
              <a:off x="10798543" y="3263635"/>
              <a:ext cx="1034999" cy="449728"/>
            </a:xfrm>
            <a:custGeom>
              <a:avLst/>
              <a:gdLst>
                <a:gd name="connsiteX0" fmla="*/ 0 w 787500"/>
                <a:gd name="connsiteY0" fmla="*/ 0 h 616176"/>
                <a:gd name="connsiteX1" fmla="*/ 787500 w 787500"/>
                <a:gd name="connsiteY1" fmla="*/ 0 h 616176"/>
                <a:gd name="connsiteX2" fmla="*/ 787500 w 787500"/>
                <a:gd name="connsiteY2" fmla="*/ 616176 h 616176"/>
                <a:gd name="connsiteX3" fmla="*/ 0 w 787500"/>
                <a:gd name="connsiteY3" fmla="*/ 616176 h 616176"/>
                <a:gd name="connsiteX4" fmla="*/ 0 w 787500"/>
                <a:gd name="connsiteY4" fmla="*/ 0 h 61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7500" h="616176">
                  <a:moveTo>
                    <a:pt x="0" y="0"/>
                  </a:moveTo>
                  <a:lnTo>
                    <a:pt x="787500" y="0"/>
                  </a:lnTo>
                  <a:lnTo>
                    <a:pt x="787500" y="616176"/>
                  </a:lnTo>
                  <a:lnTo>
                    <a:pt x="0" y="616176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ML Models</a:t>
              </a: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C798AB7-3344-3A56-1962-AD9060519EA2}"/>
                </a:ext>
              </a:extLst>
            </p:cNvPr>
            <p:cNvSpPr/>
            <p:nvPr/>
          </p:nvSpPr>
          <p:spPr>
            <a:xfrm>
              <a:off x="10796937" y="3982991"/>
              <a:ext cx="1034999" cy="459473"/>
            </a:xfrm>
            <a:custGeom>
              <a:avLst/>
              <a:gdLst>
                <a:gd name="connsiteX0" fmla="*/ 0 w 720000"/>
                <a:gd name="connsiteY0" fmla="*/ 0 h 616176"/>
                <a:gd name="connsiteX1" fmla="*/ 720000 w 720000"/>
                <a:gd name="connsiteY1" fmla="*/ 0 h 616176"/>
                <a:gd name="connsiteX2" fmla="*/ 720000 w 720000"/>
                <a:gd name="connsiteY2" fmla="*/ 616176 h 616176"/>
                <a:gd name="connsiteX3" fmla="*/ 0 w 720000"/>
                <a:gd name="connsiteY3" fmla="*/ 616176 h 616176"/>
                <a:gd name="connsiteX4" fmla="*/ 0 w 720000"/>
                <a:gd name="connsiteY4" fmla="*/ 0 h 61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0000" h="616176">
                  <a:moveTo>
                    <a:pt x="0" y="0"/>
                  </a:moveTo>
                  <a:lnTo>
                    <a:pt x="720000" y="0"/>
                  </a:lnTo>
                  <a:lnTo>
                    <a:pt x="720000" y="616176"/>
                  </a:lnTo>
                  <a:lnTo>
                    <a:pt x="0" y="616176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Safety &amp; UI</a:t>
              </a: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C2A25AE-AB9A-C55A-0C99-DE7442D40D9B}"/>
                </a:ext>
              </a:extLst>
            </p:cNvPr>
            <p:cNvSpPr/>
            <p:nvPr/>
          </p:nvSpPr>
          <p:spPr>
            <a:xfrm>
              <a:off x="10805607" y="4725745"/>
              <a:ext cx="1034998" cy="459473"/>
            </a:xfrm>
            <a:custGeom>
              <a:avLst/>
              <a:gdLst>
                <a:gd name="connsiteX0" fmla="*/ 0 w 720000"/>
                <a:gd name="connsiteY0" fmla="*/ 0 h 616176"/>
                <a:gd name="connsiteX1" fmla="*/ 720000 w 720000"/>
                <a:gd name="connsiteY1" fmla="*/ 0 h 616176"/>
                <a:gd name="connsiteX2" fmla="*/ 720000 w 720000"/>
                <a:gd name="connsiteY2" fmla="*/ 616176 h 616176"/>
                <a:gd name="connsiteX3" fmla="*/ 0 w 720000"/>
                <a:gd name="connsiteY3" fmla="*/ 616176 h 616176"/>
                <a:gd name="connsiteX4" fmla="*/ 0 w 720000"/>
                <a:gd name="connsiteY4" fmla="*/ 0 h 61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0000" h="616176">
                  <a:moveTo>
                    <a:pt x="0" y="0"/>
                  </a:moveTo>
                  <a:lnTo>
                    <a:pt x="720000" y="0"/>
                  </a:lnTo>
                  <a:lnTo>
                    <a:pt x="720000" y="616176"/>
                  </a:lnTo>
                  <a:lnTo>
                    <a:pt x="0" y="616176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MQTT</a:t>
              </a: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4B668C2-476F-3576-6412-AFA13688B0F0}"/>
                </a:ext>
              </a:extLst>
            </p:cNvPr>
            <p:cNvSpPr/>
            <p:nvPr/>
          </p:nvSpPr>
          <p:spPr>
            <a:xfrm>
              <a:off x="10798545" y="5454846"/>
              <a:ext cx="1034998" cy="457875"/>
            </a:xfrm>
            <a:custGeom>
              <a:avLst/>
              <a:gdLst>
                <a:gd name="connsiteX0" fmla="*/ 0 w 1102500"/>
                <a:gd name="connsiteY0" fmla="*/ 0 h 616176"/>
                <a:gd name="connsiteX1" fmla="*/ 1102500 w 1102500"/>
                <a:gd name="connsiteY1" fmla="*/ 0 h 616176"/>
                <a:gd name="connsiteX2" fmla="*/ 1102500 w 1102500"/>
                <a:gd name="connsiteY2" fmla="*/ 616176 h 616176"/>
                <a:gd name="connsiteX3" fmla="*/ 0 w 1102500"/>
                <a:gd name="connsiteY3" fmla="*/ 616176 h 616176"/>
                <a:gd name="connsiteX4" fmla="*/ 0 w 1102500"/>
                <a:gd name="connsiteY4" fmla="*/ 0 h 61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2500" h="616176">
                  <a:moveTo>
                    <a:pt x="0" y="0"/>
                  </a:moveTo>
                  <a:lnTo>
                    <a:pt x="1102500" y="0"/>
                  </a:lnTo>
                  <a:lnTo>
                    <a:pt x="1102500" y="616176"/>
                  </a:lnTo>
                  <a:lnTo>
                    <a:pt x="0" y="616176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Fleet Dashboard</a:t>
              </a:r>
            </a:p>
          </p:txBody>
        </p:sp>
        <p:sp>
          <p:nvSpPr>
            <p:cNvPr id="15400" name="Arrow: Down 15399">
              <a:extLst>
                <a:ext uri="{FF2B5EF4-FFF2-40B4-BE49-F238E27FC236}">
                  <a16:creationId xmlns:a16="http://schemas.microsoft.com/office/drawing/2014/main" id="{FE1BC816-BBA7-50AC-580B-219C6E7A3924}"/>
                </a:ext>
              </a:extLst>
            </p:cNvPr>
            <p:cNvSpPr/>
            <p:nvPr/>
          </p:nvSpPr>
          <p:spPr>
            <a:xfrm>
              <a:off x="11179723" y="1538315"/>
              <a:ext cx="268451" cy="232055"/>
            </a:xfrm>
            <a:prstGeom prst="downArrow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401" name="Arrow: Down 15400">
              <a:extLst>
                <a:ext uri="{FF2B5EF4-FFF2-40B4-BE49-F238E27FC236}">
                  <a16:creationId xmlns:a16="http://schemas.microsoft.com/office/drawing/2014/main" id="{D2494029-0B04-2F02-2CC5-2E84ADA75567}"/>
                </a:ext>
              </a:extLst>
            </p:cNvPr>
            <p:cNvSpPr/>
            <p:nvPr/>
          </p:nvSpPr>
          <p:spPr>
            <a:xfrm>
              <a:off x="11197897" y="2268347"/>
              <a:ext cx="268451" cy="232055"/>
            </a:xfrm>
            <a:prstGeom prst="downArrow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402" name="Arrow: Down 15401">
              <a:extLst>
                <a:ext uri="{FF2B5EF4-FFF2-40B4-BE49-F238E27FC236}">
                  <a16:creationId xmlns:a16="http://schemas.microsoft.com/office/drawing/2014/main" id="{B2883CEE-D0C3-1E05-1944-577E55DB9647}"/>
                </a:ext>
              </a:extLst>
            </p:cNvPr>
            <p:cNvSpPr/>
            <p:nvPr/>
          </p:nvSpPr>
          <p:spPr>
            <a:xfrm>
              <a:off x="11197897" y="3008574"/>
              <a:ext cx="268451" cy="232055"/>
            </a:xfrm>
            <a:prstGeom prst="downArrow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403" name="Arrow: Down 15402">
              <a:extLst>
                <a:ext uri="{FF2B5EF4-FFF2-40B4-BE49-F238E27FC236}">
                  <a16:creationId xmlns:a16="http://schemas.microsoft.com/office/drawing/2014/main" id="{B5B2ED92-B820-A77B-5BB4-3F72A329399A}"/>
                </a:ext>
              </a:extLst>
            </p:cNvPr>
            <p:cNvSpPr/>
            <p:nvPr/>
          </p:nvSpPr>
          <p:spPr>
            <a:xfrm>
              <a:off x="11197897" y="3746111"/>
              <a:ext cx="268451" cy="232055"/>
            </a:xfrm>
            <a:prstGeom prst="downArrow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404" name="Arrow: Down 15403">
              <a:extLst>
                <a:ext uri="{FF2B5EF4-FFF2-40B4-BE49-F238E27FC236}">
                  <a16:creationId xmlns:a16="http://schemas.microsoft.com/office/drawing/2014/main" id="{A12A79A1-F33E-3671-F105-562FCBD5680A}"/>
                </a:ext>
              </a:extLst>
            </p:cNvPr>
            <p:cNvSpPr/>
            <p:nvPr/>
          </p:nvSpPr>
          <p:spPr>
            <a:xfrm>
              <a:off x="11197897" y="4470834"/>
              <a:ext cx="268451" cy="232055"/>
            </a:xfrm>
            <a:prstGeom prst="downArrow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405" name="Arrow: Down 15404">
              <a:extLst>
                <a:ext uri="{FF2B5EF4-FFF2-40B4-BE49-F238E27FC236}">
                  <a16:creationId xmlns:a16="http://schemas.microsoft.com/office/drawing/2014/main" id="{A7DDF28B-1583-134C-1C46-22B72B8F3E76}"/>
                </a:ext>
              </a:extLst>
            </p:cNvPr>
            <p:cNvSpPr/>
            <p:nvPr/>
          </p:nvSpPr>
          <p:spPr>
            <a:xfrm>
              <a:off x="11197897" y="5217849"/>
              <a:ext cx="268451" cy="232055"/>
            </a:xfrm>
            <a:prstGeom prst="downArrow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5598F-399F-69CE-A4A9-5B693D438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493389"/>
            <a:ext cx="12191999" cy="3600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C12F317-FEB0-4934-F8EF-98A929B2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D93F057-5FB1-E4F8-BFC5-712B5A0DC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493389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5CD983-955B-7509-3A74-119538C5C6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EAE8FFC-180C-BD0E-09B8-C6DBF7AF10B7}"/>
              </a:ext>
            </a:extLst>
          </p:cNvPr>
          <p:cNvSpPr/>
          <p:nvPr/>
        </p:nvSpPr>
        <p:spPr>
          <a:xfrm>
            <a:off x="675157" y="3568684"/>
            <a:ext cx="1304472" cy="75406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</a:p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Model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1FC604E-1AD2-1072-90FE-677656CB5C79}"/>
              </a:ext>
            </a:extLst>
          </p:cNvPr>
          <p:cNvSpPr/>
          <p:nvPr/>
        </p:nvSpPr>
        <p:spPr>
          <a:xfrm>
            <a:off x="675157" y="5072366"/>
            <a:ext cx="1304472" cy="75406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L3</a:t>
            </a:r>
          </a:p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82C0517-E9CE-9845-1A6C-E4E5D610F0DA}"/>
              </a:ext>
            </a:extLst>
          </p:cNvPr>
          <p:cNvGrpSpPr/>
          <p:nvPr/>
        </p:nvGrpSpPr>
        <p:grpSpPr>
          <a:xfrm>
            <a:off x="645560" y="1358238"/>
            <a:ext cx="10366249" cy="795340"/>
            <a:chOff x="675157" y="1395247"/>
            <a:chExt cx="10366249" cy="79534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D109F89-F4A4-A5E8-8F45-E31C5F55A0EA}"/>
                </a:ext>
              </a:extLst>
            </p:cNvPr>
            <p:cNvSpPr/>
            <p:nvPr/>
          </p:nvSpPr>
          <p:spPr>
            <a:xfrm>
              <a:off x="2577830" y="1423981"/>
              <a:ext cx="8413824" cy="72609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67A87DA-25A8-1DB6-B1D1-F7A8522CF7EF}"/>
                </a:ext>
              </a:extLst>
            </p:cNvPr>
            <p:cNvSpPr/>
            <p:nvPr/>
          </p:nvSpPr>
          <p:spPr>
            <a:xfrm>
              <a:off x="675157" y="1395247"/>
              <a:ext cx="1304472" cy="75406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L0</a:t>
              </a:r>
            </a:p>
            <a:p>
              <a:pPr algn="ctr"/>
              <a:r>
                <a:rPr lang="en-I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Hardware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3B7F2EB-2CA9-BA6E-E796-774C70E696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32976" y="1535174"/>
              <a:ext cx="628875" cy="362942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689C55B-F8BF-96DE-4B7A-D249785F0BEC}"/>
                </a:ext>
              </a:extLst>
            </p:cNvPr>
            <p:cNvSpPr txBox="1"/>
            <p:nvPr/>
          </p:nvSpPr>
          <p:spPr>
            <a:xfrm>
              <a:off x="2656234" y="1864163"/>
              <a:ext cx="159150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b="1" dirty="0">
                  <a:solidFill>
                    <a:schemeClr val="tx1"/>
                  </a:solidFill>
                  <a:effectLst>
                    <a:outerShdw blurRad="50800" dist="38100" dir="5400000" algn="ctr" rotWithShape="0">
                      <a:srgbClr val="000000">
                        <a:alpha val="0"/>
                      </a:srgbClr>
                    </a:outerShdw>
                    <a:reflection stA="0" endPos="5000" dist="50800" dir="5400000" sy="-100000" algn="bl" rotWithShape="0"/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Thermal Camera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76825B0-8E59-806F-1B22-9ABCD0945180}"/>
                </a:ext>
              </a:extLst>
            </p:cNvPr>
            <p:cNvSpPr txBox="1"/>
            <p:nvPr/>
          </p:nvSpPr>
          <p:spPr>
            <a:xfrm>
              <a:off x="4779071" y="1882810"/>
              <a:ext cx="75854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tx1"/>
                  </a:solidFill>
                  <a:effectLst>
                    <a:outerShdw blurRad="50800" dist="38100" dir="5400000" algn="ctr" rotWithShape="0">
                      <a:srgbClr val="000000">
                        <a:alpha val="0"/>
                      </a:srgbClr>
                    </a:outerShdw>
                    <a:reflection stA="0" endPos="5000" dist="50800" dir="5400000" sy="-100000" algn="bl" rotWithShape="0"/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LiDAR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FB50A43-8B1A-4944-BBB5-1F74471F5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43584" y="1470918"/>
              <a:ext cx="830117" cy="42042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7DAB48-9678-0E97-FA1A-736B0B364F00}"/>
                </a:ext>
              </a:extLst>
            </p:cNvPr>
            <p:cNvSpPr txBox="1"/>
            <p:nvPr/>
          </p:nvSpPr>
          <p:spPr>
            <a:xfrm>
              <a:off x="6090652" y="1864163"/>
              <a:ext cx="13741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b="1" dirty="0" err="1"/>
                <a:t>mmWave</a:t>
              </a:r>
              <a:r>
                <a:rPr lang="en-IN" sz="1400" b="1" dirty="0"/>
                <a:t> Radar</a:t>
              </a:r>
              <a:endParaRPr lang="en-IN" sz="1400" b="1" dirty="0">
                <a:effectLst>
                  <a:outerShdw blurRad="50800" dist="38100" dir="5400000" algn="ctr" rotWithShape="0">
                    <a:srgbClr val="000000">
                      <a:alpha val="0"/>
                    </a:srgbClr>
                  </a:outerShdw>
                  <a:reflection stA="0" endPos="500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AEDC7B2-5B23-061A-3293-006CD7577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17313" y="1526491"/>
              <a:ext cx="1145605" cy="369676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6D96496-8E03-E786-28EE-3221D682A227}"/>
                </a:ext>
              </a:extLst>
            </p:cNvPr>
            <p:cNvSpPr txBox="1"/>
            <p:nvPr/>
          </p:nvSpPr>
          <p:spPr>
            <a:xfrm>
              <a:off x="7893001" y="1853885"/>
              <a:ext cx="105370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b="1" dirty="0">
                  <a:effectLst>
                    <a:outerShdw blurRad="50800" dist="38100" dir="5400000" algn="ctr" rotWithShape="0">
                      <a:srgbClr val="000000">
                        <a:alpha val="0"/>
                      </a:srgbClr>
                    </a:outerShdw>
                    <a:reflection stA="0" endPos="5000" dist="50800" dir="5400000" sy="-100000" algn="bl" rotWithShape="0"/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RTK GPS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8D0202C-9691-E7D2-1856-01B2FE0A1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05290" y="1504279"/>
              <a:ext cx="819264" cy="40152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3BC2CA1-29CE-42BF-5695-03C72401A850}"/>
                </a:ext>
              </a:extLst>
            </p:cNvPr>
            <p:cNvSpPr txBox="1"/>
            <p:nvPr/>
          </p:nvSpPr>
          <p:spPr>
            <a:xfrm>
              <a:off x="9414560" y="1862552"/>
              <a:ext cx="162684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b="1" dirty="0">
                  <a:effectLst>
                    <a:outerShdw blurRad="50800" dist="38100" dir="5400000" algn="ctr" rotWithShape="0">
                      <a:srgbClr val="000000">
                        <a:alpha val="0"/>
                      </a:srgbClr>
                    </a:outerShdw>
                    <a:reflection stA="0" endPos="5000" dist="50800" dir="5400000" sy="-100000" algn="bl" rotWithShape="0"/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LoRa (V2V Mesh)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276C656-3457-BD46-7ABD-166F952FB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5400000">
              <a:off x="9919311" y="1232537"/>
              <a:ext cx="412365" cy="889128"/>
            </a:xfrm>
            <a:prstGeom prst="rect">
              <a:avLst/>
            </a:prstGeom>
          </p:spPr>
        </p:pic>
      </p:grpSp>
      <p:sp>
        <p:nvSpPr>
          <p:cNvPr id="29" name="Arrow: Down 28">
            <a:extLst>
              <a:ext uri="{FF2B5EF4-FFF2-40B4-BE49-F238E27FC236}">
                <a16:creationId xmlns:a16="http://schemas.microsoft.com/office/drawing/2014/main" id="{84250E88-25E0-D7B5-DCD3-481939C8499A}"/>
              </a:ext>
            </a:extLst>
          </p:cNvPr>
          <p:cNvSpPr/>
          <p:nvPr/>
        </p:nvSpPr>
        <p:spPr>
          <a:xfrm>
            <a:off x="6343821" y="2193828"/>
            <a:ext cx="374871" cy="254472"/>
          </a:xfrm>
          <a:prstGeom prst="down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D50485FF-6679-B7DC-BF82-40503E579E07}"/>
              </a:ext>
            </a:extLst>
          </p:cNvPr>
          <p:cNvSpPr/>
          <p:nvPr/>
        </p:nvSpPr>
        <p:spPr>
          <a:xfrm>
            <a:off x="6349374" y="3274487"/>
            <a:ext cx="374871" cy="254472"/>
          </a:xfrm>
          <a:prstGeom prst="down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EC80490-B7C8-F091-30A3-49C41A68E511}"/>
              </a:ext>
            </a:extLst>
          </p:cNvPr>
          <p:cNvSpPr/>
          <p:nvPr/>
        </p:nvSpPr>
        <p:spPr>
          <a:xfrm>
            <a:off x="2548233" y="3571728"/>
            <a:ext cx="8413824" cy="75101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noFill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FE54FB9-0BD1-3787-6984-C33171D906C5}"/>
              </a:ext>
            </a:extLst>
          </p:cNvPr>
          <p:cNvGrpSpPr/>
          <p:nvPr/>
        </p:nvGrpSpPr>
        <p:grpSpPr>
          <a:xfrm>
            <a:off x="675157" y="2463461"/>
            <a:ext cx="10316497" cy="754824"/>
            <a:chOff x="675157" y="2463461"/>
            <a:chExt cx="10316497" cy="75482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68454FA-7D02-C8DC-E6B7-FECAB6F5C01A}"/>
                </a:ext>
              </a:extLst>
            </p:cNvPr>
            <p:cNvGrpSpPr/>
            <p:nvPr/>
          </p:nvGrpSpPr>
          <p:grpSpPr>
            <a:xfrm>
              <a:off x="675157" y="2463461"/>
              <a:ext cx="10316497" cy="754824"/>
              <a:chOff x="675157" y="1395247"/>
              <a:chExt cx="10316497" cy="754824"/>
            </a:xfrm>
          </p:grpSpPr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9E7F1A2D-DB73-BFEF-8C5E-94AA7F1BAC4E}"/>
                  </a:ext>
                </a:extLst>
              </p:cNvPr>
              <p:cNvSpPr/>
              <p:nvPr/>
            </p:nvSpPr>
            <p:spPr>
              <a:xfrm>
                <a:off x="2577830" y="1423981"/>
                <a:ext cx="8413824" cy="726090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E040CD23-091F-625A-0338-5141005BA3CE}"/>
                  </a:ext>
                </a:extLst>
              </p:cNvPr>
              <p:cNvSpPr/>
              <p:nvPr/>
            </p:nvSpPr>
            <p:spPr>
              <a:xfrm>
                <a:off x="675157" y="1395247"/>
                <a:ext cx="1304472" cy="754064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L1</a:t>
                </a:r>
              </a:p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Controller</a:t>
                </a:r>
              </a:p>
            </p:txBody>
          </p:sp>
        </p:grp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ABDBA556-6295-8E09-2C78-DC370AAED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16200000">
              <a:off x="4291784" y="2208174"/>
              <a:ext cx="674727" cy="1304472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686AC75C-1F3B-FEEE-5D0F-11216FDE8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046715" y="2523046"/>
              <a:ext cx="1353012" cy="674728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F1EE2C2-8F38-65F4-F777-1D6ADF2066D5}"/>
                </a:ext>
              </a:extLst>
            </p:cNvPr>
            <p:cNvSpPr txBox="1"/>
            <p:nvPr/>
          </p:nvSpPr>
          <p:spPr>
            <a:xfrm>
              <a:off x="8400612" y="2673893"/>
              <a:ext cx="121355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b="1" dirty="0">
                  <a:effectLst>
                    <a:outerShdw blurRad="50800" dist="38100" dir="5400000" algn="ctr" rotWithShape="0">
                      <a:srgbClr val="000000">
                        <a:alpha val="0"/>
                      </a:srgbClr>
                    </a:outerShdw>
                    <a:reflection stA="0" endPos="5000" dist="50800" dir="5400000" sy="-100000" algn="bl" rotWithShape="0"/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Raspberry Pi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B27205D-A14E-C1B9-493E-1CAA26EBF9A5}"/>
                </a:ext>
              </a:extLst>
            </p:cNvPr>
            <p:cNvSpPr txBox="1"/>
            <p:nvPr/>
          </p:nvSpPr>
          <p:spPr>
            <a:xfrm>
              <a:off x="5166205" y="2680131"/>
              <a:ext cx="121355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b="1" dirty="0">
                  <a:effectLst>
                    <a:outerShdw blurRad="50800" dist="38100" dir="5400000" algn="ctr" rotWithShape="0">
                      <a:srgbClr val="000000">
                        <a:alpha val="0"/>
                      </a:srgbClr>
                    </a:outerShdw>
                    <a:reflection stA="0" endPos="5000" dist="50800" dir="5400000" sy="-100000" algn="bl" rotWithShape="0"/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ESP32-S3</a:t>
              </a:r>
            </a:p>
          </p:txBody>
        </p:sp>
      </p:grp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179F469-B34B-E1E4-7667-378BDA64940B}"/>
              </a:ext>
            </a:extLst>
          </p:cNvPr>
          <p:cNvSpPr/>
          <p:nvPr/>
        </p:nvSpPr>
        <p:spPr>
          <a:xfrm>
            <a:off x="2548233" y="4721431"/>
            <a:ext cx="8413824" cy="16349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0E6D6DA7-2F3C-2707-CC1A-827B9DEBF645}"/>
              </a:ext>
            </a:extLst>
          </p:cNvPr>
          <p:cNvSpPr/>
          <p:nvPr/>
        </p:nvSpPr>
        <p:spPr>
          <a:xfrm>
            <a:off x="6342881" y="4408227"/>
            <a:ext cx="374871" cy="254472"/>
          </a:xfrm>
          <a:prstGeom prst="down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8FFD521-5D0D-A679-FB67-A7BF961C6F1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30632" y="3633094"/>
            <a:ext cx="574367" cy="381876"/>
          </a:xfrm>
          <a:prstGeom prst="rect">
            <a:avLst/>
          </a:prstGeom>
          <a:noFill/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7FDFCADF-CC0F-36E4-501B-8229B4CB2E89}"/>
              </a:ext>
            </a:extLst>
          </p:cNvPr>
          <p:cNvSpPr txBox="1"/>
          <p:nvPr/>
        </p:nvSpPr>
        <p:spPr>
          <a:xfrm>
            <a:off x="2818985" y="3996295"/>
            <a:ext cx="1213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effectLst>
                  <a:outerShdw blurRad="50800" dist="38100" dir="5400000" algn="ctr" rotWithShape="0">
                    <a:srgbClr val="000000">
                      <a:alpha val="0"/>
                    </a:srgbClr>
                  </a:outerShdw>
                  <a:reflection stA="0" endPos="500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5D3BD84A-1A63-3FEF-7CD5-334571AF574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41929" y="3616969"/>
            <a:ext cx="391527" cy="391527"/>
          </a:xfrm>
          <a:prstGeom prst="rect">
            <a:avLst/>
          </a:prstGeom>
          <a:noFill/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F2FD1C72-20C5-3AE6-467C-711EDB67516F}"/>
              </a:ext>
            </a:extLst>
          </p:cNvPr>
          <p:cNvSpPr txBox="1"/>
          <p:nvPr/>
        </p:nvSpPr>
        <p:spPr>
          <a:xfrm>
            <a:off x="4102600" y="3991388"/>
            <a:ext cx="8653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 err="1">
                <a:effectLst>
                  <a:outerShdw blurRad="50800" dist="38100" dir="5400000" algn="ctr" rotWithShape="0">
                    <a:srgbClr val="000000">
                      <a:alpha val="0"/>
                    </a:srgbClr>
                  </a:outerShdw>
                  <a:reflection stA="0" endPos="500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IN" sz="1400" b="1" dirty="0">
              <a:effectLst>
                <a:outerShdw blurRad="50800" dist="38100" dir="5400000" algn="ctr" rotWithShape="0">
                  <a:srgbClr val="000000">
                    <a:alpha val="0"/>
                  </a:srgbClr>
                </a:outerShdw>
                <a:reflection stA="0" endPos="5000" dist="50800" dir="5400000" sy="-10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6FAA1BD0-CD70-C353-D79C-33E2246F94CA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40368"/>
          <a:stretch>
            <a:fillRect/>
          </a:stretch>
        </p:blipFill>
        <p:spPr>
          <a:xfrm>
            <a:off x="7946285" y="3591733"/>
            <a:ext cx="656244" cy="485309"/>
          </a:xfrm>
          <a:prstGeom prst="rect">
            <a:avLst/>
          </a:prstGeom>
          <a:noFill/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83D5B716-933E-2731-4EF7-CFDEFD27FBDE}"/>
              </a:ext>
            </a:extLst>
          </p:cNvPr>
          <p:cNvSpPr txBox="1"/>
          <p:nvPr/>
        </p:nvSpPr>
        <p:spPr>
          <a:xfrm>
            <a:off x="7650900" y="4026532"/>
            <a:ext cx="13044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effectLst>
                  <a:outerShdw blurRad="50800" dist="38100" dir="5400000" algn="ctr" rotWithShape="0">
                    <a:srgbClr val="000000">
                      <a:alpha val="0"/>
                    </a:srgbClr>
                  </a:outerShdw>
                  <a:reflection stA="0" endPos="500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Sensor Fusion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CFB3B8D-5FA0-7C01-9B11-1AD30E53874C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9440" t="26107" r="21547"/>
          <a:stretch>
            <a:fillRect/>
          </a:stretch>
        </p:blipFill>
        <p:spPr>
          <a:xfrm>
            <a:off x="9609823" y="3645093"/>
            <a:ext cx="691226" cy="485309"/>
          </a:xfrm>
          <a:prstGeom prst="rect">
            <a:avLst/>
          </a:prstGeom>
          <a:noFill/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BA1EBF3F-6E88-2833-4AFA-54F96E0BE2B2}"/>
              </a:ext>
            </a:extLst>
          </p:cNvPr>
          <p:cNvSpPr txBox="1"/>
          <p:nvPr/>
        </p:nvSpPr>
        <p:spPr>
          <a:xfrm>
            <a:off x="9373015" y="4020751"/>
            <a:ext cx="11557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 err="1">
                <a:effectLst>
                  <a:outerShdw blurRad="50800" dist="38100" dir="5400000" algn="ctr" rotWithShape="0">
                    <a:srgbClr val="000000">
                      <a:alpha val="0"/>
                    </a:srgbClr>
                  </a:outerShdw>
                  <a:reflection stA="0" endPos="500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TinyML</a:t>
            </a:r>
            <a:endParaRPr lang="en-IN" sz="1400" b="1" dirty="0">
              <a:effectLst>
                <a:outerShdw blurRad="50800" dist="38100" dir="5400000" algn="ctr" rotWithShape="0">
                  <a:srgbClr val="000000">
                    <a:alpha val="0"/>
                  </a:srgbClr>
                </a:outerShdw>
                <a:reflection stA="0" endPos="5000" dist="50800" dir="5400000" sy="-10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11219DA8-EF90-6C77-CD71-DFCB64AFA66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61082" y="3630173"/>
            <a:ext cx="656249" cy="38264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28478F54-6E51-646A-8FF4-A694AFA56EE6}"/>
              </a:ext>
            </a:extLst>
          </p:cNvPr>
          <p:cNvSpPr txBox="1"/>
          <p:nvPr/>
        </p:nvSpPr>
        <p:spPr>
          <a:xfrm>
            <a:off x="5116712" y="3986694"/>
            <a:ext cx="11557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effectLst>
                  <a:outerShdw blurRad="50800" dist="38100" dir="5400000" algn="ctr" rotWithShape="0">
                    <a:srgbClr val="000000">
                      <a:alpha val="0"/>
                    </a:srgbClr>
                  </a:outerShdw>
                  <a:reflection stA="0" endPos="500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8B25218B-09D6-5688-39BB-D7EE36AC583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55674" y="3631192"/>
            <a:ext cx="382672" cy="382672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B7DFF457-078B-B361-579B-C307970FC1A9}"/>
              </a:ext>
            </a:extLst>
          </p:cNvPr>
          <p:cNvSpPr txBox="1"/>
          <p:nvPr/>
        </p:nvSpPr>
        <p:spPr>
          <a:xfrm>
            <a:off x="6468907" y="3974020"/>
            <a:ext cx="7644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effectLst>
                  <a:outerShdw blurRad="50800" dist="38100" dir="5400000" algn="ctr" rotWithShape="0">
                    <a:srgbClr val="000000">
                      <a:alpha val="0"/>
                    </a:srgbClr>
                  </a:outerShdw>
                  <a:reflection stA="0" endPos="500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</a:p>
        </p:txBody>
      </p:sp>
      <p:sp>
        <p:nvSpPr>
          <p:cNvPr id="54" name="Arrow: Down 53">
            <a:extLst>
              <a:ext uri="{FF2B5EF4-FFF2-40B4-BE49-F238E27FC236}">
                <a16:creationId xmlns:a16="http://schemas.microsoft.com/office/drawing/2014/main" id="{CE38BCF0-8E39-8C02-D47F-ED021F760589}"/>
              </a:ext>
            </a:extLst>
          </p:cNvPr>
          <p:cNvSpPr/>
          <p:nvPr/>
        </p:nvSpPr>
        <p:spPr>
          <a:xfrm rot="16200000">
            <a:off x="7323772" y="3809099"/>
            <a:ext cx="374871" cy="254472"/>
          </a:xfrm>
          <a:prstGeom prst="downArrow">
            <a:avLst>
              <a:gd name="adj1" fmla="val 50000"/>
              <a:gd name="adj2" fmla="val 100000"/>
            </a:avLst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5" name="Arrow: Down 54">
            <a:extLst>
              <a:ext uri="{FF2B5EF4-FFF2-40B4-BE49-F238E27FC236}">
                <a16:creationId xmlns:a16="http://schemas.microsoft.com/office/drawing/2014/main" id="{566747D4-B782-69E4-1694-16DF32B1EAA2}"/>
              </a:ext>
            </a:extLst>
          </p:cNvPr>
          <p:cNvSpPr/>
          <p:nvPr/>
        </p:nvSpPr>
        <p:spPr>
          <a:xfrm rot="16200000">
            <a:off x="9085623" y="3809098"/>
            <a:ext cx="374871" cy="254472"/>
          </a:xfrm>
          <a:prstGeom prst="downArrow">
            <a:avLst>
              <a:gd name="adj1" fmla="val 50000"/>
              <a:gd name="adj2" fmla="val 100000"/>
            </a:avLst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BFED340-1067-E9EF-CB50-3533DC393DA5}"/>
              </a:ext>
            </a:extLst>
          </p:cNvPr>
          <p:cNvSpPr txBox="1"/>
          <p:nvPr/>
        </p:nvSpPr>
        <p:spPr>
          <a:xfrm>
            <a:off x="2811036" y="5154547"/>
            <a:ext cx="1213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effectLst>
                  <a:outerShdw blurRad="50800" dist="38100" dir="5400000" algn="ctr" rotWithShape="0">
                    <a:srgbClr val="000000">
                      <a:alpha val="0"/>
                    </a:srgbClr>
                  </a:outerShdw>
                  <a:reflection stA="0" endPos="500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Next.js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532F057D-2B35-B794-F94E-1421B2F06F0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25451" y="4762841"/>
            <a:ext cx="384728" cy="38472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27EAFD5-E20B-898B-67EB-8265F5523DB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589264">
            <a:off x="3131394" y="5567697"/>
            <a:ext cx="509689" cy="509689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76060C15-C73F-E79D-ED91-F8A7FE281496}"/>
              </a:ext>
            </a:extLst>
          </p:cNvPr>
          <p:cNvSpPr txBox="1"/>
          <p:nvPr/>
        </p:nvSpPr>
        <p:spPr>
          <a:xfrm>
            <a:off x="2763353" y="5952953"/>
            <a:ext cx="1213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effectLst>
                  <a:outerShdw blurRad="50800" dist="38100" dir="5400000" algn="ctr" rotWithShape="0">
                    <a:srgbClr val="000000">
                      <a:alpha val="0"/>
                    </a:srgbClr>
                  </a:outerShdw>
                  <a:reflection stA="0" endPos="500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Three.js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AB7AB39E-C34A-D2E8-C928-C1FF3086FA1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37295" y="5126133"/>
            <a:ext cx="448250" cy="44825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FC7C9DEA-E02E-FB68-B79B-EB8EDE2E55B7}"/>
              </a:ext>
            </a:extLst>
          </p:cNvPr>
          <p:cNvSpPr txBox="1"/>
          <p:nvPr/>
        </p:nvSpPr>
        <p:spPr>
          <a:xfrm>
            <a:off x="5554641" y="5556638"/>
            <a:ext cx="1213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effectLst>
                  <a:outerShdw blurRad="50800" dist="38100" dir="5400000" algn="ctr" rotWithShape="0">
                    <a:srgbClr val="000000">
                      <a:alpha val="0"/>
                    </a:srgbClr>
                  </a:outerShdw>
                  <a:reflection stA="0" endPos="500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MQTT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A52091B6-04AF-5103-A43A-72CB8B723DB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06053" y="5595410"/>
            <a:ext cx="627403" cy="307777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F37080E6-B292-A3AC-DEC9-32C0165F87F9}"/>
              </a:ext>
            </a:extLst>
          </p:cNvPr>
          <p:cNvSpPr txBox="1"/>
          <p:nvPr/>
        </p:nvSpPr>
        <p:spPr>
          <a:xfrm>
            <a:off x="3828396" y="5943987"/>
            <a:ext cx="12889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effectLst>
                  <a:outerShdw blurRad="50800" dist="38100" dir="5400000" algn="ctr" rotWithShape="0">
                    <a:srgbClr val="000000">
                      <a:alpha val="0"/>
                    </a:srgbClr>
                  </a:outerShdw>
                  <a:reflection stA="0" endPos="500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Tailwind CSS</a:t>
            </a:r>
          </a:p>
        </p:txBody>
      </p:sp>
      <p:pic>
        <p:nvPicPr>
          <p:cNvPr id="17408" name="Picture 17407">
            <a:hlinkClick r:id="rId21"/>
            <a:extLst>
              <a:ext uri="{FF2B5EF4-FFF2-40B4-BE49-F238E27FC236}">
                <a16:creationId xmlns:a16="http://schemas.microsoft.com/office/drawing/2014/main" id="{18DE091F-65E9-22D3-3E01-C7AA283AFBA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87004" y="4763005"/>
            <a:ext cx="1632263" cy="776761"/>
          </a:xfrm>
          <a:prstGeom prst="rect">
            <a:avLst/>
          </a:prstGeom>
        </p:spPr>
      </p:pic>
      <p:pic>
        <p:nvPicPr>
          <p:cNvPr id="17411" name="Picture 17410">
            <a:hlinkClick r:id="rId23"/>
            <a:extLst>
              <a:ext uri="{FF2B5EF4-FFF2-40B4-BE49-F238E27FC236}">
                <a16:creationId xmlns:a16="http://schemas.microsoft.com/office/drawing/2014/main" id="{E6DEA2DE-5A9D-88FD-E625-77657E6ABF7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08822" y="5633799"/>
            <a:ext cx="1608046" cy="700452"/>
          </a:xfrm>
          <a:prstGeom prst="rect">
            <a:avLst/>
          </a:prstGeom>
        </p:spPr>
      </p:pic>
      <p:pic>
        <p:nvPicPr>
          <p:cNvPr id="17412" name="Picture 17411">
            <a:extLst>
              <a:ext uri="{FF2B5EF4-FFF2-40B4-BE49-F238E27FC236}">
                <a16:creationId xmlns:a16="http://schemas.microsoft.com/office/drawing/2014/main" id="{103D60BB-907F-26B3-65F4-629095FEB36E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84631" y="4704961"/>
            <a:ext cx="576472" cy="576472"/>
          </a:xfrm>
          <a:prstGeom prst="rect">
            <a:avLst/>
          </a:prstGeom>
        </p:spPr>
      </p:pic>
      <p:sp>
        <p:nvSpPr>
          <p:cNvPr id="17413" name="TextBox 17412">
            <a:extLst>
              <a:ext uri="{FF2B5EF4-FFF2-40B4-BE49-F238E27FC236}">
                <a16:creationId xmlns:a16="http://schemas.microsoft.com/office/drawing/2014/main" id="{A4724837-57B8-DBD8-23B7-2265ACE91C9E}"/>
              </a:ext>
            </a:extLst>
          </p:cNvPr>
          <p:cNvSpPr txBox="1"/>
          <p:nvPr/>
        </p:nvSpPr>
        <p:spPr>
          <a:xfrm>
            <a:off x="9202904" y="4989639"/>
            <a:ext cx="17887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effectLst>
                  <a:outerShdw blurRad="50800" dist="38100" dir="5400000" algn="ctr" rotWithShape="0">
                    <a:srgbClr val="000000">
                      <a:alpha val="0"/>
                    </a:srgbClr>
                  </a:outerShdw>
                  <a:reflection stA="0" endPos="500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In-Cabin Dashboard</a:t>
            </a:r>
          </a:p>
        </p:txBody>
      </p:sp>
      <p:sp>
        <p:nvSpPr>
          <p:cNvPr id="17414" name="TextBox 17413">
            <a:extLst>
              <a:ext uri="{FF2B5EF4-FFF2-40B4-BE49-F238E27FC236}">
                <a16:creationId xmlns:a16="http://schemas.microsoft.com/office/drawing/2014/main" id="{61F7295F-3ABF-287B-38DC-6E1BF28D25F8}"/>
              </a:ext>
            </a:extLst>
          </p:cNvPr>
          <p:cNvSpPr txBox="1"/>
          <p:nvPr/>
        </p:nvSpPr>
        <p:spPr>
          <a:xfrm>
            <a:off x="9157539" y="5799064"/>
            <a:ext cx="15370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effectLst>
                  <a:outerShdw blurRad="50800" dist="38100" dir="5400000" algn="ctr" rotWithShape="0">
                    <a:srgbClr val="000000">
                      <a:alpha val="0"/>
                    </a:srgbClr>
                  </a:outerShdw>
                  <a:reflection stA="0" endPos="500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Fleet Dashboard</a:t>
            </a:r>
          </a:p>
        </p:txBody>
      </p:sp>
      <p:sp>
        <p:nvSpPr>
          <p:cNvPr id="17415" name="TextBox 17414">
            <a:extLst>
              <a:ext uri="{FF2B5EF4-FFF2-40B4-BE49-F238E27FC236}">
                <a16:creationId xmlns:a16="http://schemas.microsoft.com/office/drawing/2014/main" id="{E488F716-9BBD-6AA3-D17D-B2A4A6CF98CB}"/>
              </a:ext>
            </a:extLst>
          </p:cNvPr>
          <p:cNvSpPr txBox="1"/>
          <p:nvPr/>
        </p:nvSpPr>
        <p:spPr>
          <a:xfrm>
            <a:off x="3876378" y="5158301"/>
            <a:ext cx="1213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effectLst>
                  <a:outerShdw blurRad="50800" dist="38100" dir="5400000" algn="ctr" rotWithShape="0">
                    <a:srgbClr val="000000">
                      <a:alpha val="0"/>
                    </a:srgbClr>
                  </a:outerShdw>
                  <a:reflection stA="0" endPos="500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73681EDB-5E80-9614-86A9-51C8C63E9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49856" cy="59270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WeBuildZ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F64F6A-EB78-7B7A-120B-AE8F64F73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8000"/>
            <a:ext cx="12191999" cy="3600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4276D99-CE95-2E68-3D46-D559EF9AE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638503" cy="1052326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0C7F81E-6D39-CA24-28C3-DFA9E5355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8055" y="6498000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5E8E640-01B6-447C-2844-6231E5F554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20950"/>
            <a:ext cx="2083418" cy="98375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D7EA3F-466A-856A-613F-1580B58A7B56}"/>
              </a:ext>
            </a:extLst>
          </p:cNvPr>
          <p:cNvSpPr/>
          <p:nvPr/>
        </p:nvSpPr>
        <p:spPr>
          <a:xfrm>
            <a:off x="149983" y="1555774"/>
            <a:ext cx="5697196" cy="4547218"/>
          </a:xfrm>
          <a:prstGeom prst="roundRect">
            <a:avLst>
              <a:gd name="adj" fmla="val 8409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AF4B0CB-5297-B0FA-C753-6FA56AB1FC23}"/>
              </a:ext>
            </a:extLst>
          </p:cNvPr>
          <p:cNvSpPr/>
          <p:nvPr/>
        </p:nvSpPr>
        <p:spPr>
          <a:xfrm>
            <a:off x="1373503" y="1176269"/>
            <a:ext cx="3411793" cy="6489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Technical Feasibility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20BE430-3DBD-68A6-417A-FBB7DDFD4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7690" y="1270794"/>
            <a:ext cx="399395" cy="426939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5A3F216-EA75-A73A-D19F-1FC7BBB1C4EF}"/>
              </a:ext>
            </a:extLst>
          </p:cNvPr>
          <p:cNvSpPr/>
          <p:nvPr/>
        </p:nvSpPr>
        <p:spPr>
          <a:xfrm>
            <a:off x="6060599" y="1555774"/>
            <a:ext cx="5742039" cy="2443681"/>
          </a:xfrm>
          <a:prstGeom prst="roundRect">
            <a:avLst>
              <a:gd name="adj" fmla="val 8409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BB5964A-E9BA-1443-C4C4-E74F0B46F4B3}"/>
              </a:ext>
            </a:extLst>
          </p:cNvPr>
          <p:cNvSpPr/>
          <p:nvPr/>
        </p:nvSpPr>
        <p:spPr>
          <a:xfrm>
            <a:off x="7225721" y="1125638"/>
            <a:ext cx="3288891" cy="61739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Viability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307413-6B88-C955-BA2E-6A98AF79D908}"/>
              </a:ext>
            </a:extLst>
          </p:cNvPr>
          <p:cNvSpPr txBox="1"/>
          <p:nvPr/>
        </p:nvSpPr>
        <p:spPr>
          <a:xfrm>
            <a:off x="6076331" y="1742232"/>
            <a:ext cx="57420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Incremental deployment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Start with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vehicle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validate the system, then extend to multiple dumpers.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infrastructure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Dashboard, V2V and sensor modules are designed as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layers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future upgrades easier.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cost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Target configuration is approximately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₹25,000–₹40,000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depending on available laboratory hardware.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alternatives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Sensors can be replaced with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MLX90640, YDLIDAR, ESP-NOW and other lower-cost options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EE7A6A9-67D6-19DF-903E-8F4D76C3D5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2561" y="1229498"/>
            <a:ext cx="552421" cy="503135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D6D822A-E2C9-0A4A-E31A-813232044FDC}"/>
              </a:ext>
            </a:extLst>
          </p:cNvPr>
          <p:cNvSpPr/>
          <p:nvPr/>
        </p:nvSpPr>
        <p:spPr>
          <a:xfrm>
            <a:off x="6166786" y="4419506"/>
            <a:ext cx="5651583" cy="1765439"/>
          </a:xfrm>
          <a:prstGeom prst="roundRect">
            <a:avLst>
              <a:gd name="adj" fmla="val 8409"/>
            </a:avLst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3181959-4224-50FC-5BC9-038ABA8B54A7}"/>
              </a:ext>
            </a:extLst>
          </p:cNvPr>
          <p:cNvSpPr/>
          <p:nvPr/>
        </p:nvSpPr>
        <p:spPr>
          <a:xfrm>
            <a:off x="7084761" y="4123349"/>
            <a:ext cx="3980815" cy="61739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RISKS → MITIGATION</a:t>
            </a:r>
            <a:endParaRPr lang="en-IN" sz="2000" b="1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" name="TextBox 18">
            <a:extLst>
              <a:ext uri="{FF2B5EF4-FFF2-40B4-BE49-F238E27FC236}">
                <a16:creationId xmlns:a16="http://schemas.microsoft.com/office/drawing/2014/main" id="{35533CC7-14D8-97D9-0914-C307BF6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4953438"/>
              </p:ext>
            </p:extLst>
          </p:nvPr>
        </p:nvGraphicFramePr>
        <p:xfrm>
          <a:off x="-83605" y="1960666"/>
          <a:ext cx="6202017" cy="3970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FE11FDF2-4899-0A18-8291-284D5327A1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52188" y="4193741"/>
            <a:ext cx="593679" cy="51466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64E50A9-1E77-DE11-183D-E19A2C5D42D9}"/>
              </a:ext>
            </a:extLst>
          </p:cNvPr>
          <p:cNvSpPr txBox="1"/>
          <p:nvPr/>
        </p:nvSpPr>
        <p:spPr>
          <a:xfrm>
            <a:off x="6225122" y="4822163"/>
            <a:ext cx="541561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V2V range limitations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Combine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ESP-NOW + LoRa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short- and long-range communication. </a:t>
            </a:r>
          </a:p>
          <a:p>
            <a:pPr lvl="0"/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Risk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Develop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AI, Web and IoT modules in parallel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integrate incrementally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8" name="Oval 27" descr="Your startup LOGO">
            <a:extLst>
              <a:ext uri="{FF2B5EF4-FFF2-40B4-BE49-F238E27FC236}">
                <a16:creationId xmlns:a16="http://schemas.microsoft.com/office/drawing/2014/main" id="{408F7CF3-6546-F8B8-D73E-1506ADBDE1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49856" cy="59270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WeBuildZ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3" name="Rectangle: Rounded Corners 17422">
            <a:extLst>
              <a:ext uri="{FF2B5EF4-FFF2-40B4-BE49-F238E27FC236}">
                <a16:creationId xmlns:a16="http://schemas.microsoft.com/office/drawing/2014/main" id="{193BF312-D8DD-5EB6-CBAE-8444EDBC30A9}"/>
              </a:ext>
            </a:extLst>
          </p:cNvPr>
          <p:cNvSpPr/>
          <p:nvPr/>
        </p:nvSpPr>
        <p:spPr>
          <a:xfrm>
            <a:off x="6134882" y="883692"/>
            <a:ext cx="5501606" cy="5405826"/>
          </a:xfrm>
          <a:prstGeom prst="roundRect">
            <a:avLst>
              <a:gd name="adj" fmla="val 8463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3A9E75A9-82E2-510F-9DC5-1E96AA168EEC}"/>
              </a:ext>
            </a:extLst>
          </p:cNvPr>
          <p:cNvSpPr/>
          <p:nvPr/>
        </p:nvSpPr>
        <p:spPr>
          <a:xfrm>
            <a:off x="175384" y="883692"/>
            <a:ext cx="5501606" cy="5405826"/>
          </a:xfrm>
          <a:prstGeom prst="roundRect">
            <a:avLst>
              <a:gd name="adj" fmla="val 8463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01272"/>
            <a:ext cx="12191999" cy="3600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91688" y="6514279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8841FD4D-79A2-D4D6-C3AA-519BCAA00F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49856" cy="59270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WeBuildZ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E97B92CC-B4F7-84BC-2BC3-299EF6DCB33F}"/>
              </a:ext>
            </a:extLst>
          </p:cNvPr>
          <p:cNvSpPr txBox="1"/>
          <p:nvPr/>
        </p:nvSpPr>
        <p:spPr>
          <a:xfrm>
            <a:off x="8158166" y="999922"/>
            <a:ext cx="14550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BBA84067-7C60-4CA0-A0D9-B1A8C801EC8B}"/>
              </a:ext>
            </a:extLst>
          </p:cNvPr>
          <p:cNvSpPr txBox="1"/>
          <p:nvPr/>
        </p:nvSpPr>
        <p:spPr>
          <a:xfrm>
            <a:off x="2148013" y="991926"/>
            <a:ext cx="1389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96573E7-8512-1780-2B89-E72C9C3985EB}"/>
              </a:ext>
            </a:extLst>
          </p:cNvPr>
          <p:cNvSpPr/>
          <p:nvPr/>
        </p:nvSpPr>
        <p:spPr>
          <a:xfrm>
            <a:off x="487725" y="1402200"/>
            <a:ext cx="4710158" cy="24007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4FF7D51-205E-2864-F5AB-4B9D11F7F970}"/>
              </a:ext>
            </a:extLst>
          </p:cNvPr>
          <p:cNvSpPr/>
          <p:nvPr/>
        </p:nvSpPr>
        <p:spPr>
          <a:xfrm>
            <a:off x="487725" y="3985304"/>
            <a:ext cx="4710158" cy="21333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C74DFAC-ACC0-BE4A-1EBB-86544B29E1D9}"/>
              </a:ext>
            </a:extLst>
          </p:cNvPr>
          <p:cNvSpPr txBox="1"/>
          <p:nvPr/>
        </p:nvSpPr>
        <p:spPr>
          <a:xfrm>
            <a:off x="370578" y="1438972"/>
            <a:ext cx="25232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IN" sz="1600" b="1" u="sng" dirty="0">
                <a:effectLst>
                  <a:outerShdw blurRad="50800" dist="38100" dir="5400000" algn="ctr" rotWithShape="0">
                    <a:srgbClr val="000000">
                      <a:alpha val="0"/>
                    </a:srgbClr>
                  </a:outerShdw>
                  <a:reflection stA="0" endPos="500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 Driver (Operator)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54E2B4-8D95-1223-6ED7-146B85AE54B9}"/>
              </a:ext>
            </a:extLst>
          </p:cNvPr>
          <p:cNvSpPr txBox="1"/>
          <p:nvPr/>
        </p:nvSpPr>
        <p:spPr>
          <a:xfrm>
            <a:off x="678132" y="1727756"/>
            <a:ext cx="433307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Zero Fog Blindness:</a:t>
            </a:r>
            <a:r>
              <a:rPr lang="en-IN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Restores 100m+ clear virtual vision in 3–5m fog via the in-cabin HUD, eliminating severe driver panic and visual stress.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Fatal Hazard Protection:</a:t>
            </a:r>
            <a:r>
              <a:rPr lang="en-IN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3-stage proactive alerts (HUD visual, seat vibration, auto-brake relay) prevent blind rear-end collisions and cliff-edge roll-offs.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7D085C5-B9E8-258E-3B19-7FEDE8FE6F7F}"/>
              </a:ext>
            </a:extLst>
          </p:cNvPr>
          <p:cNvSpPr txBox="1"/>
          <p:nvPr/>
        </p:nvSpPr>
        <p:spPr>
          <a:xfrm>
            <a:off x="370578" y="3985512"/>
            <a:ext cx="25232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IN" sz="1600" b="1" u="sng" dirty="0">
                <a:effectLst>
                  <a:outerShdw blurRad="50800" dist="38100" dir="5400000" algn="ctr" rotWithShape="0">
                    <a:srgbClr val="000000">
                      <a:alpha val="0"/>
                    </a:srgbClr>
                  </a:outerShdw>
                  <a:reflection stA="0" endPos="500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 Fleet Management</a:t>
            </a:r>
          </a:p>
        </p:txBody>
      </p:sp>
      <p:sp>
        <p:nvSpPr>
          <p:cNvPr id="17408" name="TextBox 17407">
            <a:extLst>
              <a:ext uri="{FF2B5EF4-FFF2-40B4-BE49-F238E27FC236}">
                <a16:creationId xmlns:a16="http://schemas.microsoft.com/office/drawing/2014/main" id="{1E837579-63E6-4F6C-2EB4-ABC8EBEF98AF}"/>
              </a:ext>
            </a:extLst>
          </p:cNvPr>
          <p:cNvSpPr txBox="1"/>
          <p:nvPr/>
        </p:nvSpPr>
        <p:spPr>
          <a:xfrm>
            <a:off x="678133" y="4302724"/>
            <a:ext cx="433307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Zero Weather Shutdowns:</a:t>
            </a:r>
            <a:r>
              <a:rPr lang="en-IN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Recovers </a:t>
            </a:r>
            <a:r>
              <a:rPr lang="en-IN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50–60 lost or slowed monsoon operating days</a:t>
            </a:r>
            <a:r>
              <a:rPr lang="en-IN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maintaining safe 20–30 km/h haulage during heavy fog.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Fleet Oversight:</a:t>
            </a:r>
            <a:r>
              <a:rPr lang="en-IN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Central 3D Digital Twin gives control room operators live vehicle tracking, V2V mesh connectivity, and dynamic fog hazard heatmaps.</a:t>
            </a:r>
          </a:p>
        </p:txBody>
      </p:sp>
      <p:graphicFrame>
        <p:nvGraphicFramePr>
          <p:cNvPr id="17412" name="Diagram 17411">
            <a:extLst>
              <a:ext uri="{FF2B5EF4-FFF2-40B4-BE49-F238E27FC236}">
                <a16:creationId xmlns:a16="http://schemas.microsoft.com/office/drawing/2014/main" id="{C92F2422-C9ED-C534-E8E5-965AE7AC6D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3155964"/>
              </p:ext>
            </p:extLst>
          </p:nvPr>
        </p:nvGraphicFramePr>
        <p:xfrm>
          <a:off x="6530605" y="1382932"/>
          <a:ext cx="4740391" cy="4627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12796"/>
            <a:ext cx="12191999" cy="3600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509388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4C62E0-A8DB-AC0F-02F0-1FE613B59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72749"/>
              </p:ext>
            </p:extLst>
          </p:nvPr>
        </p:nvGraphicFramePr>
        <p:xfrm>
          <a:off x="5212080" y="1095374"/>
          <a:ext cx="6746737" cy="36485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0497">
                  <a:extLst>
                    <a:ext uri="{9D8B030D-6E8A-4147-A177-3AD203B41FA5}">
                      <a16:colId xmlns:a16="http://schemas.microsoft.com/office/drawing/2014/main" val="3010992661"/>
                    </a:ext>
                  </a:extLst>
                </a:gridCol>
                <a:gridCol w="1632854">
                  <a:extLst>
                    <a:ext uri="{9D8B030D-6E8A-4147-A177-3AD203B41FA5}">
                      <a16:colId xmlns:a16="http://schemas.microsoft.com/office/drawing/2014/main" val="2467092625"/>
                    </a:ext>
                  </a:extLst>
                </a:gridCol>
                <a:gridCol w="1366693">
                  <a:extLst>
                    <a:ext uri="{9D8B030D-6E8A-4147-A177-3AD203B41FA5}">
                      <a16:colId xmlns:a16="http://schemas.microsoft.com/office/drawing/2014/main" val="3313892769"/>
                    </a:ext>
                  </a:extLst>
                </a:gridCol>
                <a:gridCol w="1366693">
                  <a:extLst>
                    <a:ext uri="{9D8B030D-6E8A-4147-A177-3AD203B41FA5}">
                      <a16:colId xmlns:a16="http://schemas.microsoft.com/office/drawing/2014/main" val="2618290025"/>
                    </a:ext>
                  </a:extLst>
                </a:gridCol>
              </a:tblGrid>
              <a:tr h="328278">
                <a:tc gridSpan="4"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COMPARISONS WITH EXISTING SYSTEMS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8646227"/>
                  </a:ext>
                </a:extLst>
              </a:tr>
              <a:tr h="328278">
                <a:tc>
                  <a:txBody>
                    <a:bodyPr/>
                    <a:lstStyle/>
                    <a:p>
                      <a:pPr algn="ctr"/>
                      <a:r>
                        <a:rPr lang="en-IN" sz="1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Dimension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Commercial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Chaulya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Our Proposal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2096658"/>
                  </a:ext>
                </a:extLst>
              </a:tr>
              <a:tr h="29545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Thermal Imaging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165132"/>
                  </a:ext>
                </a:extLst>
              </a:tr>
              <a:tr h="29545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LiDAR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5033827"/>
                  </a:ext>
                </a:extLst>
              </a:tr>
              <a:tr h="29545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Radar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274148"/>
                  </a:ext>
                </a:extLst>
              </a:tr>
              <a:tr h="29545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Sensor Fusion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8214210"/>
                  </a:ext>
                </a:extLst>
              </a:tr>
              <a:tr h="29545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V2V Cooperative Perception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8398306"/>
                  </a:ext>
                </a:extLst>
              </a:tr>
              <a:tr h="29545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Central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5090110"/>
                  </a:ext>
                </a:extLst>
              </a:tr>
              <a:tr h="29545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Road Edge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871845"/>
                  </a:ext>
                </a:extLst>
              </a:tr>
              <a:tr h="29545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Multi-Stage Safety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907116"/>
                  </a:ext>
                </a:extLst>
              </a:tr>
              <a:tr h="29545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Deployable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07339"/>
                  </a:ext>
                </a:extLst>
              </a:tr>
              <a:tr h="29545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$25-40k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$20-25k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$9-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885620"/>
                  </a:ext>
                </a:extLst>
              </a:tr>
            </a:tbl>
          </a:graphicData>
        </a:graphic>
      </p:graphicFrame>
      <p:pic>
        <p:nvPicPr>
          <p:cNvPr id="5" name="Graphic 4" descr="Checkmark">
            <a:extLst>
              <a:ext uri="{FF2B5EF4-FFF2-40B4-BE49-F238E27FC236}">
                <a16:creationId xmlns:a16="http://schemas.microsoft.com/office/drawing/2014/main" id="{4A88B5AA-D911-EDAD-9B65-07738CC286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80354" y="1821350"/>
            <a:ext cx="288000" cy="288000"/>
          </a:xfrm>
          <a:prstGeom prst="rect">
            <a:avLst/>
          </a:prstGeom>
        </p:spPr>
      </p:pic>
      <p:pic>
        <p:nvPicPr>
          <p:cNvPr id="11" name="Graphic 10" descr="Close">
            <a:extLst>
              <a:ext uri="{FF2B5EF4-FFF2-40B4-BE49-F238E27FC236}">
                <a16:creationId xmlns:a16="http://schemas.microsoft.com/office/drawing/2014/main" id="{358C00B7-4712-D2DC-0752-FA34A8B748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72672" y="2097231"/>
            <a:ext cx="288000" cy="288000"/>
          </a:xfrm>
          <a:prstGeom prst="rect">
            <a:avLst/>
          </a:prstGeom>
        </p:spPr>
      </p:pic>
      <p:pic>
        <p:nvPicPr>
          <p:cNvPr id="13" name="Graphic 12" descr="Checkmark">
            <a:extLst>
              <a:ext uri="{FF2B5EF4-FFF2-40B4-BE49-F238E27FC236}">
                <a16:creationId xmlns:a16="http://schemas.microsoft.com/office/drawing/2014/main" id="{CD58FAE7-BE2C-98C3-E25C-22CAA2662B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38556" y="1821350"/>
            <a:ext cx="288000" cy="288000"/>
          </a:xfrm>
          <a:prstGeom prst="rect">
            <a:avLst/>
          </a:prstGeom>
        </p:spPr>
      </p:pic>
      <p:pic>
        <p:nvPicPr>
          <p:cNvPr id="14" name="Graphic 13" descr="Checkmark">
            <a:extLst>
              <a:ext uri="{FF2B5EF4-FFF2-40B4-BE49-F238E27FC236}">
                <a16:creationId xmlns:a16="http://schemas.microsoft.com/office/drawing/2014/main" id="{107C7599-BCC6-FA8B-2F89-13ED1C6652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74792" y="2109350"/>
            <a:ext cx="288000" cy="288000"/>
          </a:xfrm>
          <a:prstGeom prst="rect">
            <a:avLst/>
          </a:prstGeom>
        </p:spPr>
      </p:pic>
      <p:pic>
        <p:nvPicPr>
          <p:cNvPr id="15" name="Graphic 14" descr="Checkmark">
            <a:extLst>
              <a:ext uri="{FF2B5EF4-FFF2-40B4-BE49-F238E27FC236}">
                <a16:creationId xmlns:a16="http://schemas.microsoft.com/office/drawing/2014/main" id="{73A762F8-A330-7489-EF67-DB6B4A5785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38556" y="2109350"/>
            <a:ext cx="288000" cy="288000"/>
          </a:xfrm>
          <a:prstGeom prst="rect">
            <a:avLst/>
          </a:prstGeom>
        </p:spPr>
      </p:pic>
      <p:pic>
        <p:nvPicPr>
          <p:cNvPr id="16" name="Graphic 15" descr="Checkmark">
            <a:extLst>
              <a:ext uri="{FF2B5EF4-FFF2-40B4-BE49-F238E27FC236}">
                <a16:creationId xmlns:a16="http://schemas.microsoft.com/office/drawing/2014/main" id="{05E036C4-F198-F18B-6E0E-C85EA4C212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38556" y="2428887"/>
            <a:ext cx="288000" cy="288000"/>
          </a:xfrm>
          <a:prstGeom prst="rect">
            <a:avLst/>
          </a:prstGeom>
        </p:spPr>
      </p:pic>
      <p:pic>
        <p:nvPicPr>
          <p:cNvPr id="17" name="Graphic 16" descr="Checkmark">
            <a:extLst>
              <a:ext uri="{FF2B5EF4-FFF2-40B4-BE49-F238E27FC236}">
                <a16:creationId xmlns:a16="http://schemas.microsoft.com/office/drawing/2014/main" id="{DC3DCEA2-55FB-1252-45C0-1766D084F6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38556" y="2698901"/>
            <a:ext cx="288000" cy="288000"/>
          </a:xfrm>
          <a:prstGeom prst="rect">
            <a:avLst/>
          </a:prstGeom>
        </p:spPr>
      </p:pic>
      <p:pic>
        <p:nvPicPr>
          <p:cNvPr id="18" name="Graphic 17" descr="Checkmark">
            <a:extLst>
              <a:ext uri="{FF2B5EF4-FFF2-40B4-BE49-F238E27FC236}">
                <a16:creationId xmlns:a16="http://schemas.microsoft.com/office/drawing/2014/main" id="{6606C79B-A767-882E-D4D0-5065C4756D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38556" y="2968915"/>
            <a:ext cx="288000" cy="288000"/>
          </a:xfrm>
          <a:prstGeom prst="rect">
            <a:avLst/>
          </a:prstGeom>
        </p:spPr>
      </p:pic>
      <p:pic>
        <p:nvPicPr>
          <p:cNvPr id="19" name="Graphic 18" descr="Checkmark">
            <a:extLst>
              <a:ext uri="{FF2B5EF4-FFF2-40B4-BE49-F238E27FC236}">
                <a16:creationId xmlns:a16="http://schemas.microsoft.com/office/drawing/2014/main" id="{65BBCEEC-25A2-3598-3139-4A08E8444E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38556" y="3261713"/>
            <a:ext cx="288000" cy="288000"/>
          </a:xfrm>
          <a:prstGeom prst="rect">
            <a:avLst/>
          </a:prstGeom>
        </p:spPr>
      </p:pic>
      <p:pic>
        <p:nvPicPr>
          <p:cNvPr id="20" name="Graphic 19" descr="Checkmark">
            <a:extLst>
              <a:ext uri="{FF2B5EF4-FFF2-40B4-BE49-F238E27FC236}">
                <a16:creationId xmlns:a16="http://schemas.microsoft.com/office/drawing/2014/main" id="{CCF189C1-D74B-66F2-5224-552F2FF72C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38556" y="3581250"/>
            <a:ext cx="288000" cy="288000"/>
          </a:xfrm>
          <a:prstGeom prst="rect">
            <a:avLst/>
          </a:prstGeom>
        </p:spPr>
      </p:pic>
      <p:pic>
        <p:nvPicPr>
          <p:cNvPr id="21" name="Graphic 20" descr="Checkmark">
            <a:extLst>
              <a:ext uri="{FF2B5EF4-FFF2-40B4-BE49-F238E27FC236}">
                <a16:creationId xmlns:a16="http://schemas.microsoft.com/office/drawing/2014/main" id="{F21F6B85-7E0A-0938-5AAC-C99C43A17A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38556" y="3869250"/>
            <a:ext cx="288000" cy="288000"/>
          </a:xfrm>
          <a:prstGeom prst="rect">
            <a:avLst/>
          </a:prstGeom>
        </p:spPr>
      </p:pic>
      <p:pic>
        <p:nvPicPr>
          <p:cNvPr id="22" name="Graphic 21" descr="Checkmark">
            <a:extLst>
              <a:ext uri="{FF2B5EF4-FFF2-40B4-BE49-F238E27FC236}">
                <a16:creationId xmlns:a16="http://schemas.microsoft.com/office/drawing/2014/main" id="{565B6C31-0014-DB41-131D-0FFFBBCABC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38556" y="4188787"/>
            <a:ext cx="288000" cy="288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EF83776-D646-81A0-584F-22D6601C32A1}"/>
              </a:ext>
            </a:extLst>
          </p:cNvPr>
          <p:cNvSpPr/>
          <p:nvPr/>
        </p:nvSpPr>
        <p:spPr>
          <a:xfrm>
            <a:off x="8274792" y="1929350"/>
            <a:ext cx="288000" cy="3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0EE9D7-D4D3-DCB2-6346-F23A2C98F812}"/>
              </a:ext>
            </a:extLst>
          </p:cNvPr>
          <p:cNvSpPr/>
          <p:nvPr/>
        </p:nvSpPr>
        <p:spPr>
          <a:xfrm>
            <a:off x="8274792" y="3125752"/>
            <a:ext cx="288000" cy="3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2F63EB-F579-05E4-9BB9-5B0348F5FCAB}"/>
              </a:ext>
            </a:extLst>
          </p:cNvPr>
          <p:cNvSpPr/>
          <p:nvPr/>
        </p:nvSpPr>
        <p:spPr>
          <a:xfrm>
            <a:off x="8274792" y="2806901"/>
            <a:ext cx="288000" cy="3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Graphic 28" descr="Checkmark">
            <a:extLst>
              <a:ext uri="{FF2B5EF4-FFF2-40B4-BE49-F238E27FC236}">
                <a16:creationId xmlns:a16="http://schemas.microsoft.com/office/drawing/2014/main" id="{71052218-8227-880E-613E-BFF3AD91BF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74792" y="2417487"/>
            <a:ext cx="288000" cy="288000"/>
          </a:xfrm>
          <a:prstGeom prst="rect">
            <a:avLst/>
          </a:prstGeom>
        </p:spPr>
      </p:pic>
      <p:pic>
        <p:nvPicPr>
          <p:cNvPr id="30" name="Graphic 29" descr="Checkmark">
            <a:extLst>
              <a:ext uri="{FF2B5EF4-FFF2-40B4-BE49-F238E27FC236}">
                <a16:creationId xmlns:a16="http://schemas.microsoft.com/office/drawing/2014/main" id="{3403E374-28D2-71D3-FE72-2570AAD29A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74792" y="3292769"/>
            <a:ext cx="288000" cy="288000"/>
          </a:xfrm>
          <a:prstGeom prst="rect">
            <a:avLst/>
          </a:prstGeom>
        </p:spPr>
      </p:pic>
      <p:pic>
        <p:nvPicPr>
          <p:cNvPr id="31" name="Graphic 30" descr="Checkmark">
            <a:extLst>
              <a:ext uri="{FF2B5EF4-FFF2-40B4-BE49-F238E27FC236}">
                <a16:creationId xmlns:a16="http://schemas.microsoft.com/office/drawing/2014/main" id="{7EDAC71F-9631-4490-4746-B880EA16B2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74792" y="3580288"/>
            <a:ext cx="288000" cy="288000"/>
          </a:xfrm>
          <a:prstGeom prst="rect">
            <a:avLst/>
          </a:prstGeom>
        </p:spPr>
      </p:pic>
      <p:pic>
        <p:nvPicPr>
          <p:cNvPr id="32" name="Graphic 31" descr="Checkmark">
            <a:extLst>
              <a:ext uri="{FF2B5EF4-FFF2-40B4-BE49-F238E27FC236}">
                <a16:creationId xmlns:a16="http://schemas.microsoft.com/office/drawing/2014/main" id="{2853EC17-1BF2-D3AC-0852-61C9BEA21D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74792" y="3882139"/>
            <a:ext cx="288000" cy="288000"/>
          </a:xfrm>
          <a:prstGeom prst="rect">
            <a:avLst/>
          </a:prstGeom>
        </p:spPr>
      </p:pic>
      <p:pic>
        <p:nvPicPr>
          <p:cNvPr id="33" name="Graphic 32" descr="Close">
            <a:extLst>
              <a:ext uri="{FF2B5EF4-FFF2-40B4-BE49-F238E27FC236}">
                <a16:creationId xmlns:a16="http://schemas.microsoft.com/office/drawing/2014/main" id="{91D6D981-30CF-0A01-524B-CF325EE7FF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73112" y="4171925"/>
            <a:ext cx="288000" cy="288000"/>
          </a:xfrm>
          <a:prstGeom prst="rect">
            <a:avLst/>
          </a:prstGeom>
        </p:spPr>
      </p:pic>
      <p:pic>
        <p:nvPicPr>
          <p:cNvPr id="34" name="Graphic 33" descr="Checkmark">
            <a:extLst>
              <a:ext uri="{FF2B5EF4-FFF2-40B4-BE49-F238E27FC236}">
                <a16:creationId xmlns:a16="http://schemas.microsoft.com/office/drawing/2014/main" id="{506E0D08-4D7E-1BCE-51B9-1D1B996BD0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78486" y="2400117"/>
            <a:ext cx="288000" cy="28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F6F91FC7-27B8-39E0-7815-1BD923FD6C33}"/>
              </a:ext>
            </a:extLst>
          </p:cNvPr>
          <p:cNvSpPr/>
          <p:nvPr/>
        </p:nvSpPr>
        <p:spPr>
          <a:xfrm>
            <a:off x="9780354" y="2797000"/>
            <a:ext cx="288000" cy="3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Graphic 35" descr="Close">
            <a:extLst>
              <a:ext uri="{FF2B5EF4-FFF2-40B4-BE49-F238E27FC236}">
                <a16:creationId xmlns:a16="http://schemas.microsoft.com/office/drawing/2014/main" id="{C6A28235-2729-9C5B-99B9-31F57C1002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83138" y="2993828"/>
            <a:ext cx="288000" cy="288000"/>
          </a:xfrm>
          <a:prstGeom prst="rect">
            <a:avLst/>
          </a:prstGeom>
        </p:spPr>
      </p:pic>
      <p:pic>
        <p:nvPicPr>
          <p:cNvPr id="37" name="Graphic 36" descr="Close">
            <a:extLst>
              <a:ext uri="{FF2B5EF4-FFF2-40B4-BE49-F238E27FC236}">
                <a16:creationId xmlns:a16="http://schemas.microsoft.com/office/drawing/2014/main" id="{B255DCCF-59C2-E286-3BC7-6C9E6597E1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72672" y="3290228"/>
            <a:ext cx="288000" cy="288000"/>
          </a:xfrm>
          <a:prstGeom prst="rect">
            <a:avLst/>
          </a:prstGeom>
        </p:spPr>
      </p:pic>
      <p:pic>
        <p:nvPicPr>
          <p:cNvPr id="38" name="Graphic 37" descr="Checkmark">
            <a:extLst>
              <a:ext uri="{FF2B5EF4-FFF2-40B4-BE49-F238E27FC236}">
                <a16:creationId xmlns:a16="http://schemas.microsoft.com/office/drawing/2014/main" id="{F343F0D6-BAF6-36D2-BEC3-A9DA2F1B7D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72672" y="3578228"/>
            <a:ext cx="288000" cy="28800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47ECBCC0-CF79-5875-F50F-D4BA136B4ACE}"/>
              </a:ext>
            </a:extLst>
          </p:cNvPr>
          <p:cNvSpPr/>
          <p:nvPr/>
        </p:nvSpPr>
        <p:spPr>
          <a:xfrm>
            <a:off x="9772672" y="3990139"/>
            <a:ext cx="288000" cy="3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7E14F18-4A68-C74E-E506-A2F4A25C2903}"/>
              </a:ext>
            </a:extLst>
          </p:cNvPr>
          <p:cNvSpPr/>
          <p:nvPr/>
        </p:nvSpPr>
        <p:spPr>
          <a:xfrm>
            <a:off x="9783138" y="4297925"/>
            <a:ext cx="288000" cy="3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437" name="Picture 17436">
            <a:extLst>
              <a:ext uri="{FF2B5EF4-FFF2-40B4-BE49-F238E27FC236}">
                <a16:creationId xmlns:a16="http://schemas.microsoft.com/office/drawing/2014/main" id="{A8D277EC-60B3-B473-1CF0-6181CF0E064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3191" b="16155"/>
          <a:stretch>
            <a:fillRect/>
          </a:stretch>
        </p:blipFill>
        <p:spPr>
          <a:xfrm>
            <a:off x="392852" y="5043390"/>
            <a:ext cx="7319914" cy="1208203"/>
          </a:xfrm>
          <a:prstGeom prst="rect">
            <a:avLst/>
          </a:prstGeom>
        </p:spPr>
      </p:pic>
      <p:sp>
        <p:nvSpPr>
          <p:cNvPr id="17438" name="TextBox 17437">
            <a:extLst>
              <a:ext uri="{FF2B5EF4-FFF2-40B4-BE49-F238E27FC236}">
                <a16:creationId xmlns:a16="http://schemas.microsoft.com/office/drawing/2014/main" id="{9A33F24C-C5F4-C865-34CF-B748C1075B09}"/>
              </a:ext>
            </a:extLst>
          </p:cNvPr>
          <p:cNvSpPr txBox="1"/>
          <p:nvPr/>
        </p:nvSpPr>
        <p:spPr>
          <a:xfrm>
            <a:off x="329773" y="1078782"/>
            <a:ext cx="20227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39" name="TextBox 17438">
            <a:extLst>
              <a:ext uri="{FF2B5EF4-FFF2-40B4-BE49-F238E27FC236}">
                <a16:creationId xmlns:a16="http://schemas.microsoft.com/office/drawing/2014/main" id="{8E3DE64E-C083-00BD-4D1A-1789AB30BF35}"/>
              </a:ext>
            </a:extLst>
          </p:cNvPr>
          <p:cNvSpPr txBox="1"/>
          <p:nvPr/>
        </p:nvSpPr>
        <p:spPr>
          <a:xfrm>
            <a:off x="329774" y="2586907"/>
            <a:ext cx="2989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References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40" name="TextBox 17439">
            <a:extLst>
              <a:ext uri="{FF2B5EF4-FFF2-40B4-BE49-F238E27FC236}">
                <a16:creationId xmlns:a16="http://schemas.microsoft.com/office/drawing/2014/main" id="{AA2ABE26-9C5B-BC68-0782-5A6ED10A2550}"/>
              </a:ext>
            </a:extLst>
          </p:cNvPr>
          <p:cNvSpPr txBox="1"/>
          <p:nvPr/>
        </p:nvSpPr>
        <p:spPr>
          <a:xfrm>
            <a:off x="8585448" y="5623688"/>
            <a:ext cx="3634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 – sih.webuildz.online</a:t>
            </a:r>
          </a:p>
        </p:txBody>
      </p:sp>
      <p:pic>
        <p:nvPicPr>
          <p:cNvPr id="17441" name="Graphic 17440" descr="Internet with solid fill">
            <a:extLst>
              <a:ext uri="{FF2B5EF4-FFF2-40B4-BE49-F238E27FC236}">
                <a16:creationId xmlns:a16="http://schemas.microsoft.com/office/drawing/2014/main" id="{B0351B18-FA23-1F10-7035-464B7F13F5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62265" y="5031912"/>
            <a:ext cx="744022" cy="744022"/>
          </a:xfrm>
          <a:prstGeom prst="rect">
            <a:avLst/>
          </a:prstGeom>
        </p:spPr>
      </p:pic>
      <p:sp>
        <p:nvSpPr>
          <p:cNvPr id="17442" name="TextBox 17441">
            <a:extLst>
              <a:ext uri="{FF2B5EF4-FFF2-40B4-BE49-F238E27FC236}">
                <a16:creationId xmlns:a16="http://schemas.microsoft.com/office/drawing/2014/main" id="{95EFE0D3-3CE8-DFCE-D276-1A19976B2C4E}"/>
              </a:ext>
            </a:extLst>
          </p:cNvPr>
          <p:cNvSpPr txBox="1"/>
          <p:nvPr/>
        </p:nvSpPr>
        <p:spPr>
          <a:xfrm>
            <a:off x="751627" y="1429596"/>
            <a:ext cx="40386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- MineSight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Chaulya et al. (2025) –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12"/>
              </a:rPr>
              <a:t>Research Paper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Hexagon —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13"/>
              </a:rPr>
              <a:t>Vehicle Intervention System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43" name="TextBox 17442">
            <a:extLst>
              <a:ext uri="{FF2B5EF4-FFF2-40B4-BE49-F238E27FC236}">
                <a16:creationId xmlns:a16="http://schemas.microsoft.com/office/drawing/2014/main" id="{749FBD58-C9C4-3E87-4765-F46AE2F2FD88}"/>
              </a:ext>
            </a:extLst>
          </p:cNvPr>
          <p:cNvSpPr txBox="1"/>
          <p:nvPr/>
        </p:nvSpPr>
        <p:spPr>
          <a:xfrm>
            <a:off x="329774" y="4585027"/>
            <a:ext cx="27034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Workflow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17444" name="Oval 17443" descr="Your startup LOGO">
            <a:extLst>
              <a:ext uri="{FF2B5EF4-FFF2-40B4-BE49-F238E27FC236}">
                <a16:creationId xmlns:a16="http://schemas.microsoft.com/office/drawing/2014/main" id="{0B74318F-F1BE-3D6C-B703-61301888CB9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49856" cy="59270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WeBuildZ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46" name="TextBox 17445">
            <a:extLst>
              <a:ext uri="{FF2B5EF4-FFF2-40B4-BE49-F238E27FC236}">
                <a16:creationId xmlns:a16="http://schemas.microsoft.com/office/drawing/2014/main" id="{55700C81-35F6-400C-C9C6-223BA694C3E0}"/>
              </a:ext>
            </a:extLst>
          </p:cNvPr>
          <p:cNvSpPr txBox="1"/>
          <p:nvPr/>
        </p:nvSpPr>
        <p:spPr>
          <a:xfrm>
            <a:off x="747349" y="3045857"/>
            <a:ext cx="36994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Ultralytics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14"/>
              </a:rPr>
              <a:t>YOLOv8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15"/>
              </a:rPr>
              <a:t>—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15"/>
              </a:rPr>
              <a:t>StereoSGBM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OASIS —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16"/>
              </a:rPr>
              <a:t>MQTT v5.0 Standard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EECA2BB-4476-45AC-976E-7221D7E3F47F}">
  <we:reference id="wa200006214" version="2.1.0.1" store="en-US" storeType="OMEX"/>
  <we:alternateReferences>
    <we:reference id="wa200006214" version="2.1.0.1" store="wa200006214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7948</TotalTime>
  <Words>839</Words>
  <Application>Microsoft Office PowerPoint</Application>
  <PresentationFormat>Widescreen</PresentationFormat>
  <Paragraphs>133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MineSight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HARSHAVARDHAN TALAP</cp:lastModifiedBy>
  <cp:revision>159</cp:revision>
  <dcterms:created xsi:type="dcterms:W3CDTF">2013-12-12T18:46:50Z</dcterms:created>
  <dcterms:modified xsi:type="dcterms:W3CDTF">2026-09-11T12:58:28Z</dcterms:modified>
  <cp:category/>
</cp:coreProperties>
</file>